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21"/>
  </p:notesMasterIdLst>
  <p:handoutMasterIdLst>
    <p:handoutMasterId r:id="rId22"/>
  </p:handoutMasterIdLst>
  <p:sldIdLst>
    <p:sldId id="2561" r:id="rId5"/>
    <p:sldId id="2574" r:id="rId6"/>
    <p:sldId id="2576" r:id="rId7"/>
    <p:sldId id="2575" r:id="rId8"/>
    <p:sldId id="2562" r:id="rId9"/>
    <p:sldId id="2563" r:id="rId10"/>
    <p:sldId id="2564" r:id="rId11"/>
    <p:sldId id="2565" r:id="rId12"/>
    <p:sldId id="2566" r:id="rId13"/>
    <p:sldId id="2567" r:id="rId14"/>
    <p:sldId id="2568" r:id="rId15"/>
    <p:sldId id="2569" r:id="rId16"/>
    <p:sldId id="2570" r:id="rId17"/>
    <p:sldId id="2571" r:id="rId18"/>
    <p:sldId id="2572" r:id="rId19"/>
    <p:sldId id="25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lar Inverters – Global Market &amp; Technology Brief" id="{270D0D91-7FE4-42AC-A1EA-5F7662C40B93}">
          <p14:sldIdLst>
            <p14:sldId id="2561"/>
          </p14:sldIdLst>
        </p14:section>
        <p14:section name="Global Market Overview" id="{27DA5A4A-3E94-445A-B84C-83322270F576}">
          <p14:sldIdLst>
            <p14:sldId id="2574"/>
            <p14:sldId id="2576"/>
            <p14:sldId id="2575"/>
            <p14:sldId id="2562"/>
            <p14:sldId id="2563"/>
            <p14:sldId id="2564"/>
          </p14:sldIdLst>
        </p14:section>
        <p14:section name="Competitive Landscape" id="{18BEC542-FD96-46C2-B0D6-C8E82840CB24}">
          <p14:sldIdLst>
            <p14:sldId id="2565"/>
            <p14:sldId id="2566"/>
            <p14:sldId id="2567"/>
          </p14:sldIdLst>
        </p14:section>
        <p14:section name="Industry Trends and Regulatory Changes" id="{5DAAB522-7F23-4096-8D6F-81C4F9125BFD}">
          <p14:sldIdLst>
            <p14:sldId id="2568"/>
            <p14:sldId id="2569"/>
            <p14:sldId id="2570"/>
          </p14:sldIdLst>
        </p14:section>
        <p14:section name="Performance Metrics and Product Portfolios" id="{F0E5445C-CEB5-43C6-A7B2-CBE49608D36B}">
          <p14:sldIdLst>
            <p14:sldId id="2571"/>
            <p14:sldId id="2572"/>
            <p14:sldId id="2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11/30/2025</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4044906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670AB-BB7D-2968-6152-7B68CFF51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DF268-10D5-7EA9-1DAF-2F665551E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1EB34-A84D-61F2-D19D-68784786DD7B}"/>
              </a:ext>
            </a:extLst>
          </p:cNvPr>
          <p:cNvSpPr>
            <a:spLocks noGrp="1"/>
          </p:cNvSpPr>
          <p:nvPr>
            <p:ph type="body" idx="1"/>
          </p:nvPr>
        </p:nvSpPr>
        <p:spPr/>
        <p:txBody>
          <a:bodyPr/>
          <a:lstStyle/>
          <a:p>
            <a:r>
              <a:rPr lang="en-US" dirty="0"/>
              <a:t>
---
This slide references information from the following file: https://www.futuremarketinsights.com/reports/solar-inverter-market,https://www.gminsights.com/industry-analysis/pv-inverter-market,https://www.globalmarketstatistics.com/market-reports/solar-inverter-market-11975,https://www.wiseguyreports.com/reports/solar-pv-inverter-market
The global solar inverter market is experiencing robust growth driven by the accelerating adoption of renewable energy and supportive government policies. According to multiple analyst sources, the market size in 2024 ranged between USD 15.9 billion and USD 34.6 billion, reflecting variations in methodology and scope. Forecasts indicate that by 2033–2035, the market could reach between USD 20.5 billion and USD 90 billion, depending on the scenario considered. This expansion corresponds to compound annual growth rates (CAGRs) between 5.3% and 9.5%, highlighting a strong upward trajectory. Key drivers include declining costs of photovoltaic systems, technological advancements in inverter design, and the integration of smart features such as grid support and energy storage compatibility. Additionally, the modernization of power grids and the rise of decentralized generation models are fueling demand for advanced inverter solutions. These trends underscore the strategic importance of solar inverters in global energy transition plans, making them a critical component for residential, commercial, and utility-scale projects.
</a:t>
            </a:r>
          </a:p>
        </p:txBody>
      </p:sp>
      <p:sp>
        <p:nvSpPr>
          <p:cNvPr id="4" name="Slide Number Placeholder 3">
            <a:extLst>
              <a:ext uri="{FF2B5EF4-FFF2-40B4-BE49-F238E27FC236}">
                <a16:creationId xmlns:a16="http://schemas.microsoft.com/office/drawing/2014/main" id="{81BE2101-679A-8C8C-5D23-463C61F73E29}"/>
              </a:ext>
            </a:extLst>
          </p:cNvPr>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1984339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https://www.futuremarketinsights.com/reports/solar-inverter-market,https://www.gminsights.com/industry-analysis/pv-inverter-market,https://www.globalmarketstatistics.com/market-reports/solar-inverter-market-11975,https://www.wiseguyreports.com/reports/solar-pv-inverter-market
Market Size and Growth Forecast, Regional Shipment Distribution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3644610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https://www.futuremarketinsights.com/reports/solar-inverter-market,https://www.gminsights.com/industry-analysis/pv-inverter-market,https://www.globalmarketstatistics.com/market-reports/solar-inverter-market-11975,https://www.wiseguyreports.com/reports/solar-pv-inverter-market
The global solar inverter market is experiencing robust growth driven by the accelerating adoption of renewable energy and supportive government policies. According to multiple analyst sources, the market size in 2024 ranged between USD 15.9 billion and USD 34.6 billion, reflecting variations in methodology and scope. Forecasts indicate that by 2033–2035, the market could reach between USD 20.5 billion and USD 90 billion, depending on the scenario considered. This expansion corresponds to compound annual growth rates (CAGRs) between 5.3% and 9.5%, highlighting a strong upward trajectory. Key drivers include declining costs of photovoltaic systems, technological advancements in inverter design, and the integration of smart features such as grid support and energy storage compatibility. Additionally, the modernization of power grids and the rise of decentralized generation models are fueling demand for advanced inverter solutions. These trends underscore the strategic importance of solar inverters in global energy transition plans, making them a critical component for residential, commercial, and utility-scale projects.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2412490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https://www.futuremarketinsights.com/reports/solar-inverter-market,https://www.gminsights.com/industry-analysis/pv-inverter-market,https://www.globalmarketstatistics.com/market-reports/solar-inverter-market-11975,https://www.wiseguyreports.com/reports/solar-pv-inverter-market
Regional analysis reveals that Asia-Pacific dominates global inverter shipments, accounting for approximately 69% of total volume in 2024. This dominance is primarily driven by China’s massive solar deployment and manufacturing capacity. In contrast, the United States and Europe experienced shipment declines due to inventory overhang and policy transitions, such as changes in net metering compensation. Emerging markets in Africa, the Middle East, and Southeast Asia are expected to contribute significantly to future growth as manufacturers tailor products for weak-grid conditions. The concentration of shipments in APAC underscores the strategic role of Chinese manufacturers and the region’s leadership in renewable energy adoption.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737270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aurenergy.com/solar/huawei-sungrow-held-55-of-global-inverter-market-in-2024-report-9496730,https://www.pvtime.org/2024-top-20-global-photovoltaic-inverter-brands-revealed-by-pvbl/,https://www.woodmac.com/press-releases/global-pv-inverter-shipments-grew-by-10-in-2024-to-589-gwac/
Global Leading Manufacturers, Indian Market Leaders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1673812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aurenergy.com/solar/huawei-sungrow-held-55-of-global-inverter-market-in-2024-report-9496730,https://www.pvtime.org/2024-top-20-global-photovoltaic-inverter-brands-revealed-by-pvbl/,https://www.woodmac.com/press-releases/global-pv-inverter-shipments-grew-by-10-in-2024-to-589-gwac/
The global solar inverter market is highly consolidated, with Huawei and Sungrow together commanding approximately 55% of market share in 2024. Huawei leads with strong performance across China, Europe, Latin America, and Africa, while Sungrow dominates in the United States, India, and the Middle East. Other notable players include Ginlong (Solis) and Growatt, each holding less than 5% share individually. This concentration reflects the competitive advantage of Chinese firms in scale, cost efficiency, and technological innovation. Western brands such as SMA, Fronius, and SolarEdge maintain strong positions in premium segments, focusing on advanced grid services and hybrid solutions. The competitive dynamics are influenced by factors such as R&amp;D investment, product reliability, and compliance with evolving grid codes.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213228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saurenergy.com/solar/huawei-sungrow-held-55-of-global-inverter-market-in-2024-report-9496730,https://www.pvtime.org/2024-top-20-global-photovoltaic-inverter-brands-revealed-by-pvbl/,https://www.woodmac.com/press-releases/global-pv-inverter-shipments-grew-by-10-in-2024-to-589-gwac/
India’s solar inverter market is growing rapidly, supported by government initiatives such as PM-KUSUM and rooftop subsidy programs. In 2024, Sungrow led the Indian market with a 29.1% share, followed by TBEA Energy India at 21.3%, Sineng Electric at 13.3%, FIMER India at 12.2%, and Ginlong (Solis) at 6%. The shift from central to string inverters is notable, driven by faster troubleshooting and better compatibility with distributed solar projects. High-power string inverters are increasingly preferred for utility-scale installations due to their modularity and improved DC-to-AC conversion ratios. These trends align with India’s push for decentralized energy generation and enhanced grid stability.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4096049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https://www.futuremarketinsights.com/reports/solar-inverter-market,https://www.srnesolar.com/articledetail/string-vs-micro-vs-hybrid-which-type-of-solar-inverter-is-best.html,https://www.pv-magazine.com/2025/01/29/top-5-global-inverter-trends-to-watch-in-2025/
Technology and Market Trends, Global Regulatory and Incentive Landscape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703385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https://www.futuremarketinsights.com/reports/solar-inverter-market,https://www.srnesolar.com/articledetail/string-vs-micro-vs-hybrid-which-type-of-solar-inverter-is-best.html,https://www.pv-magazine.com/2025/01/29/top-5-global-inverter-trends-to-watch-in-2025/
The solar inverter industry is witnessing significant technological advancements. Hybrid inverters that integrate battery storage are gaining traction, enabling greater energy independence and resilience during outages. Smart inverters with grid-support functionalities such as voltage regulation and frequency response are becoming standard, driven by grid modernization efforts. Semiconductor innovations, including the use of Silicon Carbide (SiC) and Gallium Nitride (GaN), are improving inverter efficiency and reducing size and weight. Additionally, the market is shifting toward high-power string inverters for utility-scale projects, replacing traditional central inverters due to their modularity and ease of maintenance. These trends reflect the growing emphasis on flexibility, digitalization, and compatibility with energy storage systems.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2263538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https://www.futuremarketinsights.com/reports/solar-inverter-market,https://www.srnesolar.com/articledetail/string-vs-micro-vs-hybrid-which-type-of-solar-inverter-is-best.html,https://www.pv-magazine.com/2025/01/29/top-5-global-inverter-trends-to-watch-in-2025/
Regulatory frameworks and incentives play a pivotal role in shaping solar inverter demand. In the United States, the Investment Tax Credit (ITC) remains a key driver, offering a 30% credit for solar installations through 2025, although proposed legislation may phase it out thereafter. Net metering policies are transitioning to net billing in several states, impacting residential economics. In Europe, the REPowerEU plan mandates rooftop solar on new commercial buildings and provides feed-in tariffs and grants to accelerate adoption. India has updated its ALMM regulations to include solar cells and introduced reforms for virtual and group net metering, alongside enhanced subsidies under the Surya Ghar Muft Bijli Yojana. These policy shifts aim to promote distributed generation, improve grid integration, and support energy security goals globally.
</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a:p>
        </p:txBody>
      </p:sp>
    </p:spTree>
    <p:extLst>
      <p:ext uri="{BB962C8B-B14F-4D97-AF65-F5344CB8AC3E}">
        <p14:creationId xmlns:p14="http://schemas.microsoft.com/office/powerpoint/2010/main" val="4015075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larswitchreview.com/solar-inverter-efficiency-what-numbers-really-matter/,https://docs.nrel.gov/docs/fy20osti/74462.pdf,https://eureka.patsnap.com/article/renewable-energy-system-diagnostics-solarwind-inverter-performance-metrics,https://businessplankit.com/blogs/kpis/solar-power-inverter
Key Performance Indicators for Solar Inverters, Flagship Products and Attributes
</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a:p>
        </p:txBody>
      </p:sp>
    </p:spTree>
    <p:extLst>
      <p:ext uri="{BB962C8B-B14F-4D97-AF65-F5344CB8AC3E}">
        <p14:creationId xmlns:p14="http://schemas.microsoft.com/office/powerpoint/2010/main" val="1888209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larswitchreview.com/solar-inverter-efficiency-what-numbers-really-matter/,https://docs.nrel.gov/docs/fy20osti/74462.pdf,https://eureka.patsnap.com/article/renewable-energy-system-diagnostics-solarwind-inverter-performance-metrics,https://businessplankit.com/blogs/kpis/solar-power-inverter
Evaluating solar inverter performance requires a comprehensive understanding of key metrics. Efficiency ratings, including maximum, European, and CEC efficiency, indicate conversion effectiveness under various conditions. Maximum Power Point Tracking (MPPT) efficiency and the number of trackers determine energy harvest optimization. Total Harmonic Distortion (THD) reflects power quality and compliance with grid standards. Reliability indicators such as Mean Time Between Failures (MTBF) and uptime percentages are critical for long-term performance. Additional factors include DC/AC ratio, input current capability for high-power modules, and smart grid support functions like Volt/Var and frequency-watt control. Compliance with international standards (IEC 62109, IEC 62116, UL1741SB) and robust protection features such as AFCI and rapid shutdown enhance safety. Warranty terms and service network coverage further influence lifecycle costs and customer confidence.
</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a:p>
        </p:txBody>
      </p:sp>
    </p:spTree>
    <p:extLst>
      <p:ext uri="{BB962C8B-B14F-4D97-AF65-F5344CB8AC3E}">
        <p14:creationId xmlns:p14="http://schemas.microsoft.com/office/powerpoint/2010/main" val="3616734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larswitchreview.com/solar-inverter-efficiency-what-numbers-really-matter/,https://docs.nrel.gov/docs/fy20osti/74462.pdf,https://eureka.patsnap.com/article/renewable-energy-system-diagnostics-solarwind-inverter-performance-metrics,https://businessplankit.com/blogs/kpis/solar-power-inverter
Leading manufacturers offer diverse product portfolios tailored to residential, commercial, and utility-scale applications. Huawei’s SUN2000 series features multi-MPPT designs, AFCI protection, and integration with FusionSolar monitoring, while its utility-scale solutions support 1500V systems. Sungrow provides SG series string inverters and high-capacity central inverters for large projects. SMA’s Sunny Tripower and Fronius’ GEN24 Plus deliver hybrid capabilities and advanced grid services. GoodWe offers SDT and HT series for C&amp;I applications and XS/DNS/MS series for residential use, emphasizing high MPPT counts and IP66 protection. Growatt’s MOD and SPH hybrid inverters enable storage integration with OTA updates, while Solis focuses on cost-effective residential solutions. Enphase specializes in microinverters with panel-level optimization, and SolarEdge combines inverters with power optimizers for enhanced performance and monitoring. These products reflect industry priorities of efficiency, safety, connectivity, and storage readiness.
</a:t>
            </a:r>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a:p>
        </p:txBody>
      </p:sp>
    </p:spTree>
    <p:extLst>
      <p:ext uri="{BB962C8B-B14F-4D97-AF65-F5344CB8AC3E}">
        <p14:creationId xmlns:p14="http://schemas.microsoft.com/office/powerpoint/2010/main" val="11437121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a:p>
        </p:txBody>
      </p:sp>
      <p:pic>
        <p:nvPicPr>
          <p:cNvPr id="9" name="Graphic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a:t>
            </a:fld>
            <a:endParaRPr lang="en-US"/>
          </a:p>
        </p:txBody>
      </p:sp>
      <p:pic>
        <p:nvPicPr>
          <p:cNvPr id="7" name="Graphic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anchor="b"/>
          <a:lstStyle/>
          <a:p>
            <a:r>
              <a:rPr lang="en-US"/>
              <a:t>Click to edit Master title style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a:t> </a:t>
            </a:r>
          </a:p>
        </p:txBody>
      </p:sp>
      <p:sp>
        <p:nvSpPr>
          <p:cNvPr id="4" name="Titl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a:lstStyle/>
          <a:p>
            <a:r>
              <a:rPr lang="en-US"/>
              <a:t>Click to edit Master title style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4" name="Graphic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id="{0A449A66-B9FA-B1A3-04A3-A26F172F2F2B}"/>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1B475A5-95F7-BE62-7ACD-C8EB9F445B79}"/>
              </a:ext>
            </a:extLst>
          </p:cNvPr>
          <p:cNvSpPr>
            <a:spLocks noGrp="1"/>
          </p:cNvSpPr>
          <p:nvPr>
            <p:ph type="dt" sz="half" idx="10"/>
          </p:nvPr>
        </p:nvSpPr>
        <p:spPr/>
        <p:txBody>
          <a:bodyPr/>
          <a:lstStyle/>
          <a:p>
            <a:endParaRPr lang="en-US"/>
          </a:p>
        </p:txBody>
      </p:sp>
      <p:sp>
        <p:nvSpPr>
          <p:cNvPr id="7" name="Slide Number Placeholder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Titl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a:t>Click to edit Master subtitle style</a:t>
            </a:r>
          </a:p>
        </p:txBody>
      </p:sp>
      <p:sp>
        <p:nvSpPr>
          <p:cNvPr id="10" name="Oval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a:lstStyle/>
          <a:p>
            <a:r>
              <a:rPr lang="en-US"/>
              <a:t>Click to edit Master title style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a:lstStyle/>
          <a:p>
            <a:r>
              <a:rPr lang="en-US"/>
              <a:t>Click to edit Master title style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anchor="b"/>
          <a:lstStyle/>
          <a:p>
            <a:r>
              <a:rPr lang="en-US"/>
              <a:t>Click to edit Master title style</a:t>
            </a:r>
          </a:p>
        </p:txBody>
      </p:sp>
    </p:spTree>
    <p:extLst>
      <p:ext uri="{BB962C8B-B14F-4D97-AF65-F5344CB8AC3E}">
        <p14:creationId xmlns:p14="http://schemas.microsoft.com/office/powerpoint/2010/main" val="27098337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Oval 7">
            <a:extLst>
              <a:ext uri="{FF2B5EF4-FFF2-40B4-BE49-F238E27FC236}">
                <a16:creationId xmlns:a16="http://schemas.microsoft.com/office/drawing/2014/main" id="{175C8E38-E957-9E3C-9A05-717C0F009AB9}"/>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5436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5898630" cy="1628639"/>
          </a:xfrm>
        </p:spPr>
        <p:txBody>
          <a:bodyPr anchor="t">
            <a:normAutofit/>
          </a:bodyPr>
          <a:lstStyle>
            <a:lvl1pPr>
              <a:defRPr sz="56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8818"/>
            <a:ext cx="5275973"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219"/>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577705"/>
            <a:ext cx="5895668" cy="4266084"/>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2229A90D-5A73-BC75-5D99-5E652EA0F3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464" y="5857382"/>
            <a:ext cx="1005840" cy="100584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2882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7534384" cy="3513095"/>
          </a:xfrm>
        </p:spPr>
        <p:txBody>
          <a:bodyPr anchor="t" anchorCtr="0">
            <a:no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76116" y="4017192"/>
            <a:ext cx="4063655" cy="2814212"/>
          </a:xfrm>
        </p:spPr>
        <p:txBody>
          <a:bodyPr anchor="b" anchorCtr="0">
            <a:normAutofit/>
          </a:bodyPr>
          <a:lstStyle>
            <a:lvl1pPr marL="342900" indent="-342900" algn="r">
              <a:buFont typeface="+mj-lt"/>
              <a:buAutoNum type="arabicPeriod"/>
              <a:defRPr sz="1400"/>
            </a:lvl1pPr>
            <a:lvl2pPr marL="571500" indent="-342900" algn="r">
              <a:buFont typeface="+mj-lt"/>
              <a:buAutoNum type="arabicPeriod"/>
              <a:defRPr sz="1400"/>
            </a:lvl2pPr>
            <a:lvl3pPr marL="800100" indent="-342900" algn="r">
              <a:buFont typeface="+mj-lt"/>
              <a:buAutoNum type="arabicPeriod"/>
              <a:defRPr sz="1400"/>
            </a:lvl3pPr>
            <a:lvl4pPr marL="1028700" indent="-342900" algn="r">
              <a:buFont typeface="+mj-lt"/>
              <a:buAutoNum type="arabicPeriod"/>
              <a:defRPr sz="1400"/>
            </a:lvl4pPr>
            <a:lvl5pPr marL="1257300" indent="-342900" algn="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3">
            <a:extLst>
              <a:ext uri="{FF2B5EF4-FFF2-40B4-BE49-F238E27FC236}">
                <a16:creationId xmlns:a16="http://schemas.microsoft.com/office/drawing/2014/main" id="{0E7C9240-617B-1770-A044-328C31CB6A15}"/>
              </a:ext>
            </a:extLst>
          </p:cNvPr>
          <p:cNvSpPr>
            <a:spLocks noGrp="1"/>
          </p:cNvSpPr>
          <p:nvPr>
            <p:ph type="ftr" sz="quarter" idx="11"/>
          </p:nvPr>
        </p:nvSpPr>
        <p:spPr>
          <a:xfrm>
            <a:off x="7704945" y="118818"/>
            <a:ext cx="3779918"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C7452E47-6DDB-EA53-7FB9-2BA726EB77DA}"/>
              </a:ext>
            </a:extLst>
          </p:cNvPr>
          <p:cNvSpPr>
            <a:spLocks noGrp="1"/>
          </p:cNvSpPr>
          <p:nvPr>
            <p:ph type="pic" sz="quarter" idx="14" hasCustomPrompt="1"/>
          </p:nvPr>
        </p:nvSpPr>
        <p:spPr>
          <a:xfrm>
            <a:off x="7772400" y="989351"/>
            <a:ext cx="4284026" cy="5789588"/>
          </a:xfrm>
          <a:blipFill>
            <a:blip r:embed="rId2">
              <a:alphaModFix amt="70000"/>
            </a:blip>
            <a:stretch>
              <a:fillRect/>
            </a:stretch>
          </a:blipFill>
        </p:spPr>
        <p:txBody>
          <a:bodyPr/>
          <a:lstStyle>
            <a:lvl1pPr>
              <a:defRPr lang="en-US" dirty="0"/>
            </a:lvl1pPr>
          </a:lstStyle>
          <a:p>
            <a:r>
              <a:rPr lang="en-US"/>
              <a:t> </a:t>
            </a:r>
          </a:p>
        </p:txBody>
      </p:sp>
      <p:pic>
        <p:nvPicPr>
          <p:cNvPr id="6" name="Graphic 5">
            <a:extLst>
              <a:ext uri="{FF2B5EF4-FFF2-40B4-BE49-F238E27FC236}">
                <a16:creationId xmlns:a16="http://schemas.microsoft.com/office/drawing/2014/main" id="{1556323E-CFBE-3917-9F8D-C2431E41FB0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206" y="6047419"/>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 y="82296"/>
            <a:ext cx="4390515" cy="2418146"/>
          </a:xfrm>
        </p:spPr>
        <p:txBody>
          <a:bodyPr>
            <a:norm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0" y="4373735"/>
            <a:ext cx="4389120" cy="2459736"/>
          </a:xfrm>
        </p:spPr>
        <p:txBody>
          <a:bodyPr anchor="b"/>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B560304-B220-9740-0823-17F13E1DFD7F}"/>
              </a:ext>
            </a:extLst>
          </p:cNvPr>
          <p:cNvSpPr>
            <a:spLocks noGrp="1"/>
          </p:cNvSpPr>
          <p:nvPr>
            <p:ph type="ftr" sz="quarter" idx="15"/>
          </p:nvPr>
        </p:nvSpPr>
        <p:spPr>
          <a:xfrm>
            <a:off x="6190488" y="110364"/>
            <a:ext cx="5358238"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A6D8939A-F7AC-2C38-E1F0-99EA290DC600}"/>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a:p>
        </p:txBody>
      </p:sp>
      <p:sp>
        <p:nvSpPr>
          <p:cNvPr id="3" name="Date Placeholder 2">
            <a:extLst>
              <a:ext uri="{FF2B5EF4-FFF2-40B4-BE49-F238E27FC236}">
                <a16:creationId xmlns:a16="http://schemas.microsoft.com/office/drawing/2014/main" id="{7EB9051D-F4ED-4EE6-2F1F-2E67035938D8}"/>
              </a:ext>
            </a:extLst>
          </p:cNvPr>
          <p:cNvSpPr>
            <a:spLocks noGrp="1"/>
          </p:cNvSpPr>
          <p:nvPr>
            <p:ph type="dt" sz="half" idx="14"/>
          </p:nvPr>
        </p:nvSpPr>
        <p:spPr>
          <a:xfrm>
            <a:off x="6190488" y="6468346"/>
            <a:ext cx="2899852" cy="365125"/>
          </a:xfrm>
        </p:spPr>
        <p:txBody>
          <a:bodyPr anchor="b"/>
          <a:lstStyle/>
          <a:p>
            <a:endParaRPr lang="en-US"/>
          </a:p>
        </p:txBody>
      </p:sp>
      <p:sp>
        <p:nvSpPr>
          <p:cNvPr id="4" name="Oval 3">
            <a:extLst>
              <a:ext uri="{FF2B5EF4-FFF2-40B4-BE49-F238E27FC236}">
                <a16:creationId xmlns:a16="http://schemas.microsoft.com/office/drawing/2014/main" id="{355DE040-A555-DAC9-D08D-73A80FFBC53C}"/>
              </a:ext>
            </a:extLst>
          </p:cNvPr>
          <p:cNvSpPr/>
          <p:nvPr userDrawn="1"/>
        </p:nvSpPr>
        <p:spPr>
          <a:xfrm>
            <a:off x="8540137" y="318973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904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4" name="Footer Placeholder 4">
            <a:extLst>
              <a:ext uri="{FF2B5EF4-FFF2-40B4-BE49-F238E27FC236}">
                <a16:creationId xmlns:a16="http://schemas.microsoft.com/office/drawing/2014/main" id="{4F0A24D4-6DA5-79FF-03B8-B42156C29A10}"/>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3" name="Date Placeholder 3">
            <a:extLst>
              <a:ext uri="{FF2B5EF4-FFF2-40B4-BE49-F238E27FC236}">
                <a16:creationId xmlns:a16="http://schemas.microsoft.com/office/drawing/2014/main" id="{95496777-32C7-B10A-B939-8EEC9C873F21}"/>
              </a:ext>
            </a:extLst>
          </p:cNvPr>
          <p:cNvSpPr>
            <a:spLocks noGrp="1"/>
          </p:cNvSpPr>
          <p:nvPr>
            <p:ph type="dt" sz="half" idx="10"/>
          </p:nvPr>
        </p:nvSpPr>
        <p:spPr>
          <a:xfrm>
            <a:off x="6190488" y="100701"/>
            <a:ext cx="2940449" cy="365125"/>
          </a:xfrm>
        </p:spPr>
        <p:txBody>
          <a:bodyPr/>
          <a:lstStyle/>
          <a:p>
            <a:endParaRPr lang="en-US"/>
          </a:p>
        </p:txBody>
      </p:sp>
      <p:sp>
        <p:nvSpPr>
          <p:cNvPr id="6" name="Slide Number Placeholder 5">
            <a:extLst>
              <a:ext uri="{FF2B5EF4-FFF2-40B4-BE49-F238E27FC236}">
                <a16:creationId xmlns:a16="http://schemas.microsoft.com/office/drawing/2014/main" id="{D33C2CAA-FD7B-3168-42A9-81A6AA4BC761}"/>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190488" y="969264"/>
            <a:ext cx="5340096"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9580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2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4727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2270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976517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anchor="t"/>
          <a:lstStyle/>
          <a:p>
            <a:r>
              <a:rPr lang="en-US"/>
              <a:t>Click to edit Master title style</a:t>
            </a:r>
          </a:p>
        </p:txBody>
      </p:sp>
      <p:sp>
        <p:nvSpPr>
          <p:cNvPr id="5" name="Content Placeholder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a:t> </a:t>
            </a:r>
          </a:p>
        </p:txBody>
      </p:sp>
      <p:sp>
        <p:nvSpPr>
          <p:cNvPr id="7" name="Footer Placeholder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anchor="b"/>
          <a:lstStyle/>
          <a:p>
            <a:r>
              <a:rPr lang="en-US"/>
              <a:t>Sample footer text</a:t>
            </a:r>
          </a:p>
        </p:txBody>
      </p:sp>
      <p:sp>
        <p:nvSpPr>
          <p:cNvPr id="14" name="Date Placeholder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anchor="b"/>
          <a:lstStyle/>
          <a:p>
            <a:endParaRPr lang="en-US"/>
          </a:p>
        </p:txBody>
      </p:sp>
      <p:sp>
        <p:nvSpPr>
          <p:cNvPr id="13" name="Slide Number Placeholder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182458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268374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63264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anchor="t" anchorCtr="0"/>
          <a:lstStyle/>
          <a:p>
            <a:r>
              <a:rPr lang="en-US"/>
              <a:t>Click to edit Master title style</a:t>
            </a:r>
          </a:p>
        </p:txBody>
      </p:sp>
      <p:sp>
        <p:nvSpPr>
          <p:cNvPr id="4" name="Picture Placeholder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a:t> </a:t>
            </a:r>
          </a:p>
        </p:txBody>
      </p:sp>
      <p:sp>
        <p:nvSpPr>
          <p:cNvPr id="5" name="Content Placeholder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anchor="b"/>
          <a:lstStyle/>
          <a:p>
            <a:r>
              <a:rPr lang="en-US"/>
              <a:t>Sample footer text</a:t>
            </a:r>
          </a:p>
        </p:txBody>
      </p:sp>
      <p:sp>
        <p:nvSpPr>
          <p:cNvPr id="3" name="Slide Number Placeholder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82486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930579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a:t>Click to edit Master title style</a:t>
            </a:r>
          </a:p>
        </p:txBody>
      </p:sp>
      <p:sp>
        <p:nvSpPr>
          <p:cNvPr id="4" name="Picture Placeholder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a:t> </a:t>
            </a:r>
          </a:p>
        </p:txBody>
      </p:sp>
      <p:sp>
        <p:nvSpPr>
          <p:cNvPr id="5" name="Content Placeholder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anchor="b"/>
          <a:lstStyle/>
          <a:p>
            <a:r>
              <a:rPr lang="en-US"/>
              <a:t>Sample footer text</a:t>
            </a:r>
          </a:p>
        </p:txBody>
      </p:sp>
      <p:sp>
        <p:nvSpPr>
          <p:cNvPr id="6" name="Slide Number Placeholder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266531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724324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462670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a:t>Click to edit Master title style</a:t>
            </a:r>
          </a:p>
        </p:txBody>
      </p:sp>
      <p:sp>
        <p:nvSpPr>
          <p:cNvPr id="3" name="Content Placeholder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a:t> </a:t>
            </a:r>
          </a:p>
        </p:txBody>
      </p:sp>
      <p:sp>
        <p:nvSpPr>
          <p:cNvPr id="4" name="Footer Placeholder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189132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603830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a:t>Click to edit Master title style</a:t>
            </a:r>
          </a:p>
        </p:txBody>
      </p:sp>
      <p:sp>
        <p:nvSpPr>
          <p:cNvPr id="8" name="Footer Placeholder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a:lstStyle/>
          <a:p>
            <a:r>
              <a:rPr lang="en-US"/>
              <a:t>Sample footer text</a:t>
            </a:r>
          </a:p>
        </p:txBody>
      </p:sp>
      <p:sp>
        <p:nvSpPr>
          <p:cNvPr id="7" name="Date Placeholder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a:lstStyle/>
          <a:p>
            <a:endParaRPr lang="en-US"/>
          </a:p>
        </p:txBody>
      </p:sp>
      <p:sp>
        <p:nvSpPr>
          <p:cNvPr id="10" name="Slide Number Placeholder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a:t>
            </a:fld>
            <a:endParaRPr lang="en-US"/>
          </a:p>
        </p:txBody>
      </p:sp>
      <p:sp>
        <p:nvSpPr>
          <p:cNvPr id="9" name="Content Placeholder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149338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a:p>
          <a:p>
            <a:endParaRPr lang="en-US"/>
          </a:p>
        </p:txBody>
      </p:sp>
      <p:sp>
        <p:nvSpPr>
          <p:cNvPr id="3" name="Footer Placeholder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anchor="b"/>
          <a:lstStyle/>
          <a:p>
            <a:r>
              <a:rPr lang="en-US"/>
              <a:t>Sample footer text</a:t>
            </a:r>
          </a:p>
        </p:txBody>
      </p:sp>
      <p:sp>
        <p:nvSpPr>
          <p:cNvPr id="10" name="Date Placeholder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anchor="b"/>
          <a:lstStyle/>
          <a:p>
            <a:endParaRPr lang="en-US"/>
          </a:p>
        </p:txBody>
      </p:sp>
      <p:sp>
        <p:nvSpPr>
          <p:cNvPr id="4" name="Slide Number Placeholder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98233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a:t>Click to edit Master title style</a:t>
            </a:r>
          </a:p>
        </p:txBody>
      </p:sp>
      <p:sp>
        <p:nvSpPr>
          <p:cNvPr id="10" name="Content Placeholder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a:t>
            </a:fld>
            <a:endParaRPr lang="en-US"/>
          </a:p>
        </p:txBody>
      </p:sp>
      <p:sp>
        <p:nvSpPr>
          <p:cNvPr id="12" name="Picture Placeholder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7224019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32501324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4" y="621792"/>
            <a:ext cx="3528795" cy="1875965"/>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49183" y="2890640"/>
            <a:ext cx="3424181" cy="334245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12351" y="603504"/>
            <a:ext cx="7215984" cy="5558959"/>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27B28364-BB1F-C92D-6EA6-E9AFEACC2D4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6" name="Date Placeholder 5">
            <a:extLst>
              <a:ext uri="{FF2B5EF4-FFF2-40B4-BE49-F238E27FC236}">
                <a16:creationId xmlns:a16="http://schemas.microsoft.com/office/drawing/2014/main" id="{3E4B54CF-3562-5862-E6DB-CEF1F22146EA}"/>
              </a:ext>
            </a:extLst>
          </p:cNvPr>
          <p:cNvSpPr>
            <a:spLocks noGrp="1"/>
          </p:cNvSpPr>
          <p:nvPr>
            <p:ph type="dt" sz="half" idx="15"/>
          </p:nvPr>
        </p:nvSpPr>
        <p:spPr>
          <a:xfrm>
            <a:off x="6190488" y="6432496"/>
            <a:ext cx="2544079" cy="365125"/>
          </a:xfrm>
        </p:spPr>
        <p:txBody>
          <a:bodyPr anchor="b"/>
          <a:lstStyle/>
          <a:p>
            <a:endParaRPr lang="en-US"/>
          </a:p>
        </p:txBody>
      </p:sp>
      <p:sp>
        <p:nvSpPr>
          <p:cNvPr id="9" name="Slide Number Placeholder 8">
            <a:extLst>
              <a:ext uri="{FF2B5EF4-FFF2-40B4-BE49-F238E27FC236}">
                <a16:creationId xmlns:a16="http://schemas.microsoft.com/office/drawing/2014/main" id="{BB780F23-567A-D56A-4657-9FE5DB9F1C69}"/>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2787477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1672768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anchor="b"/>
          <a:lstStyle/>
          <a:p>
            <a:r>
              <a:rPr lang="en-US"/>
              <a:t>Sample footer text</a:t>
            </a:r>
          </a:p>
        </p:txBody>
      </p:sp>
      <p:sp>
        <p:nvSpPr>
          <p:cNvPr id="3" name="Date Placeholder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anchor="b"/>
          <a:lstStyle/>
          <a:p>
            <a:endParaRPr lang="en-US"/>
          </a:p>
        </p:txBody>
      </p:sp>
      <p:sp>
        <p:nvSpPr>
          <p:cNvPr id="5" name="Slide Number Placeholder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a:t>
            </a:fld>
            <a:endParaRPr lang="en-US"/>
          </a:p>
        </p:txBody>
      </p:sp>
      <p:sp>
        <p:nvSpPr>
          <p:cNvPr id="7" name="Picture Placeholder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362479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 y="1005840"/>
            <a:ext cx="3595634" cy="2212313"/>
          </a:xfrm>
        </p:spPr>
        <p:txBody>
          <a:bodyPr anchor="t">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69E2A0A4-E744-4E9C-CEAD-DBA5E98D44E8}"/>
              </a:ext>
            </a:extLst>
          </p:cNvPr>
          <p:cNvSpPr>
            <a:spLocks noGrp="1"/>
          </p:cNvSpPr>
          <p:nvPr>
            <p:ph type="ftr" sz="quarter" idx="11"/>
          </p:nvPr>
        </p:nvSpPr>
        <p:spPr>
          <a:xfrm>
            <a:off x="0" y="100701"/>
            <a:ext cx="4972050" cy="365125"/>
          </a:xfrm>
        </p:spPr>
        <p:txBody>
          <a:bodyPr/>
          <a:lstStyle/>
          <a:p>
            <a:r>
              <a:rPr lang="en-US"/>
              <a:t>Sample footer text</a:t>
            </a:r>
          </a:p>
        </p:txBody>
      </p:sp>
      <p:sp>
        <p:nvSpPr>
          <p:cNvPr id="8" name="Date Placeholder 3">
            <a:extLst>
              <a:ext uri="{FF2B5EF4-FFF2-40B4-BE49-F238E27FC236}">
                <a16:creationId xmlns:a16="http://schemas.microsoft.com/office/drawing/2014/main" id="{D44A2045-E098-ECF5-2867-D41D939BA049}"/>
              </a:ext>
            </a:extLst>
          </p:cNvPr>
          <p:cNvSpPr>
            <a:spLocks noGrp="1"/>
          </p:cNvSpPr>
          <p:nvPr>
            <p:ph type="dt" sz="half" idx="10"/>
          </p:nvPr>
        </p:nvSpPr>
        <p:spPr>
          <a:xfrm>
            <a:off x="5258952"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07F69DDF-E931-1763-53C0-B18D6D4EC1E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0" y="3402064"/>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66157" y="832104"/>
            <a:ext cx="6707160" cy="5917042"/>
          </a:xfrm>
          <a:blipFill>
            <a:blip r:embed="rId2">
              <a:alphaModFix amt="7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510537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9185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pic>
        <p:nvPicPr>
          <p:cNvPr id="6" name="Graphic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id="{9177888A-355A-DE7F-B87A-D018FC9564C3}"/>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E2B4EDBB-F789-35E1-3512-3A3E647C2B42}"/>
              </a:ext>
            </a:extLst>
          </p:cNvPr>
          <p:cNvSpPr>
            <a:spLocks noGrp="1"/>
          </p:cNvSpPr>
          <p:nvPr>
            <p:ph type="dt" sz="half" idx="14"/>
          </p:nvPr>
        </p:nvSpPr>
        <p:spPr/>
        <p:txBody>
          <a:bodyPr/>
          <a:lstStyle/>
          <a:p>
            <a:endParaRPr lang="en-US"/>
          </a:p>
        </p:txBody>
      </p:sp>
      <p:sp>
        <p:nvSpPr>
          <p:cNvPr id="10" name="Slide Number Placeholder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5" name="Content Placeholder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11" name="Content Placeholder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
        <p:nvSpPr>
          <p:cNvPr id="2" name="Date Placeholder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a:lstStyle/>
          <a:p>
            <a:endParaRPr lang="en-US"/>
          </a:p>
        </p:txBody>
      </p:sp>
      <p:sp>
        <p:nvSpPr>
          <p:cNvPr id="5" name="Slide Number Placeholder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a:t>Click to edit Master title style</a:t>
            </a:r>
          </a:p>
        </p:txBody>
      </p:sp>
      <p:sp>
        <p:nvSpPr>
          <p:cNvPr id="8" name="Date Placeholder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a:lstStyle/>
          <a:p>
            <a:endParaRPr lang="en-US"/>
          </a:p>
        </p:txBody>
      </p:sp>
      <p:sp>
        <p:nvSpPr>
          <p:cNvPr id="9" name="Content Placeholder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a:lstStyle/>
          <a:p>
            <a:r>
              <a:rPr lang="en-US"/>
              <a:t>Click to edit Master title style</a:t>
            </a:r>
          </a:p>
        </p:txBody>
      </p:sp>
      <p:sp>
        <p:nvSpPr>
          <p:cNvPr id="5" name="Content Placeholder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a:t>
            </a:fld>
            <a:endParaRPr lang="en-US"/>
          </a:p>
        </p:txBody>
      </p:sp>
      <p:sp>
        <p:nvSpPr>
          <p:cNvPr id="10" name="Oval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anchor="b"/>
          <a:lstStyle/>
          <a:p>
            <a:r>
              <a:rPr lang="en-US"/>
              <a:t>Sample footer text</a:t>
            </a:r>
          </a:p>
        </p:txBody>
      </p:sp>
      <p:sp>
        <p:nvSpPr>
          <p:cNvPr id="3" name="Date Placeholder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anchor="b"/>
          <a:lstStyle/>
          <a:p>
            <a:endParaRPr lang="en-US"/>
          </a:p>
        </p:txBody>
      </p:sp>
    </p:spTree>
    <p:extLst>
      <p:ext uri="{BB962C8B-B14F-4D97-AF65-F5344CB8AC3E}">
        <p14:creationId xmlns:p14="http://schemas.microsoft.com/office/powerpoint/2010/main" val="17596521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a:lstStyle/>
          <a:p>
            <a:r>
              <a:rPr lang="en-US"/>
              <a:t>Click to edit Master title style</a:t>
            </a:r>
          </a:p>
        </p:txBody>
      </p:sp>
      <p:pic>
        <p:nvPicPr>
          <p:cNvPr id="4" name="Graphic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a:lstStyle/>
          <a:p>
            <a:r>
              <a:rPr lang="en-US"/>
              <a:t>Sample footer text</a:t>
            </a:r>
          </a:p>
        </p:txBody>
      </p:sp>
      <p:sp>
        <p:nvSpPr>
          <p:cNvPr id="3" name="Date Placeholder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8" name="Content Placeholder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8" name="Content Placeholder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12" name="Footer Placeholder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a:lstStyle/>
          <a:p>
            <a:r>
              <a:rPr lang="en-US"/>
              <a:t>Sample footer text</a:t>
            </a:r>
          </a:p>
        </p:txBody>
      </p:sp>
      <p:sp>
        <p:nvSpPr>
          <p:cNvPr id="7" name="Date Placeholder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anchor="b"/>
          <a:lstStyle/>
          <a:p>
            <a:endParaRPr lang="en-US"/>
          </a:p>
        </p:txBody>
      </p:sp>
      <p:sp>
        <p:nvSpPr>
          <p:cNvPr id="13" name="Slide Number Placeholder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2" name="Date Placeholder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anchor="b"/>
          <a:lstStyle/>
          <a:p>
            <a:endParaRPr lang="en-US"/>
          </a:p>
        </p:txBody>
      </p:sp>
      <p:sp>
        <p:nvSpPr>
          <p:cNvPr id="9" name="Slide Number Placeholder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0" y="5400504"/>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288" y="91440"/>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a:t>Click to add Quote</a:t>
            </a:r>
          </a:p>
        </p:txBody>
      </p:sp>
      <p:sp>
        <p:nvSpPr>
          <p:cNvPr id="8" name="Slide Number Placeholder 5">
            <a:extLst>
              <a:ext uri="{FF2B5EF4-FFF2-40B4-BE49-F238E27FC236}">
                <a16:creationId xmlns:a16="http://schemas.microsoft.com/office/drawing/2014/main" id="{3C6CA867-0594-FF63-2A8A-31E617CF8B81}"/>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69100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a:t>Quote Author</a:t>
            </a:r>
          </a:p>
        </p:txBody>
      </p:sp>
      <p:pic>
        <p:nvPicPr>
          <p:cNvPr id="3" name="Graphic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5" name="Footer Placeholder 4">
            <a:extLst>
              <a:ext uri="{FF2B5EF4-FFF2-40B4-BE49-F238E27FC236}">
                <a16:creationId xmlns:a16="http://schemas.microsoft.com/office/drawing/2014/main" id="{3E1BFC28-1FE6-202E-4C75-F59AA5769128}"/>
              </a:ext>
            </a:extLst>
          </p:cNvPr>
          <p:cNvSpPr>
            <a:spLocks noGrp="1"/>
          </p:cNvSpPr>
          <p:nvPr>
            <p:ph type="ftr" sz="quarter" idx="11"/>
          </p:nvPr>
        </p:nvSpPr>
        <p:spPr>
          <a:xfrm>
            <a:off x="0" y="100701"/>
            <a:ext cx="5898630" cy="365125"/>
          </a:xfrm>
        </p:spPr>
        <p:txBody>
          <a:bodyPr/>
          <a:lstStyle/>
          <a:p>
            <a:r>
              <a:rPr lang="en-US"/>
              <a:t>Sample footer text</a:t>
            </a:r>
          </a:p>
        </p:txBody>
      </p:sp>
      <p:sp>
        <p:nvSpPr>
          <p:cNvPr id="4" name="Date Placeholder 3">
            <a:extLst>
              <a:ext uri="{FF2B5EF4-FFF2-40B4-BE49-F238E27FC236}">
                <a16:creationId xmlns:a16="http://schemas.microsoft.com/office/drawing/2014/main" id="{45652F0F-1439-960F-9C3A-9343AACF5CF7}"/>
              </a:ext>
            </a:extLst>
          </p:cNvPr>
          <p:cNvSpPr>
            <a:spLocks noGrp="1"/>
          </p:cNvSpPr>
          <p:nvPr>
            <p:ph type="dt" sz="half" idx="10"/>
          </p:nvPr>
        </p:nvSpPr>
        <p:spPr>
          <a:xfrm>
            <a:off x="6217920" y="100701"/>
            <a:ext cx="5332001" cy="365125"/>
          </a:xfrm>
        </p:spPr>
        <p:txBody>
          <a:bodyPr/>
          <a:lstStyle/>
          <a:p>
            <a:endParaRPr lang="en-US"/>
          </a:p>
        </p:txBody>
      </p:sp>
      <p:sp>
        <p:nvSpPr>
          <p:cNvPr id="6" name="Slide Number Placeholder 5">
            <a:extLst>
              <a:ext uri="{FF2B5EF4-FFF2-40B4-BE49-F238E27FC236}">
                <a16:creationId xmlns:a16="http://schemas.microsoft.com/office/drawing/2014/main" id="{25272698-4711-8849-0363-3DFE78138D32}"/>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15308935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28713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78500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0" y="1005840"/>
            <a:ext cx="4387515" cy="2266749"/>
          </a:xfrm>
        </p:spPr>
        <p:txBody>
          <a:bodyPr anchor="t">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3BF49C86-6C0C-1FF8-95FA-97DFDF9DAFB3}"/>
              </a:ext>
            </a:extLst>
          </p:cNvPr>
          <p:cNvSpPr>
            <a:spLocks noGrp="1"/>
          </p:cNvSpPr>
          <p:nvPr>
            <p:ph type="ftr" sz="quarter" idx="11"/>
          </p:nvPr>
        </p:nvSpPr>
        <p:spPr>
          <a:xfrm>
            <a:off x="0" y="100701"/>
            <a:ext cx="5898630" cy="365125"/>
          </a:xfrm>
        </p:spPr>
        <p:txBody>
          <a:bodyPr/>
          <a:lstStyle/>
          <a:p>
            <a:r>
              <a:rPr lang="en-US"/>
              <a:t>Sample footer text</a:t>
            </a:r>
          </a:p>
        </p:txBody>
      </p:sp>
      <p:sp>
        <p:nvSpPr>
          <p:cNvPr id="8" name="Date Placeholder 3">
            <a:extLst>
              <a:ext uri="{FF2B5EF4-FFF2-40B4-BE49-F238E27FC236}">
                <a16:creationId xmlns:a16="http://schemas.microsoft.com/office/drawing/2014/main" id="{967C0644-E9CA-553A-9682-88BC00D2C9A7}"/>
              </a:ext>
            </a:extLst>
          </p:cNvPr>
          <p:cNvSpPr>
            <a:spLocks noGrp="1"/>
          </p:cNvSpPr>
          <p:nvPr>
            <p:ph type="dt" sz="half" idx="10"/>
          </p:nvPr>
        </p:nvSpPr>
        <p:spPr>
          <a:xfrm>
            <a:off x="6217920"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671DEEC6-473A-E958-E22B-4390511AE15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 y="3951334"/>
            <a:ext cx="4387515" cy="2809615"/>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84821" y="1005840"/>
            <a:ext cx="7217472"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56749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1494558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userDrawn="1"/>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422037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ags" Target="../tags/tag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E78510B-5AD4-1A27-4EC6-C947B719FF49}"/>
              </a:ext>
            </a:extLst>
          </p:cNvPr>
          <p:cNvGraphicFramePr>
            <a:graphicFrameLocks noChangeAspect="1"/>
          </p:cNvGraphicFramePr>
          <p:nvPr userDrawn="1">
            <p:custDataLst>
              <p:tags r:id="rId61"/>
            </p:custDataLst>
            <p:extLst>
              <p:ext uri="{D42A27DB-BD31-4B8C-83A1-F6EECF244321}">
                <p14:modId xmlns:p14="http://schemas.microsoft.com/office/powerpoint/2010/main" val="2357324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2" imgW="391" imgH="391" progId="TCLayout.ActiveDocument.1">
                  <p:embed/>
                </p:oleObj>
              </mc:Choice>
              <mc:Fallback>
                <p:oleObj name="think-cell Slide" r:id="rId62" imgW="391" imgH="391" progId="TCLayout.ActiveDocument.1">
                  <p:embed/>
                  <p:pic>
                    <p:nvPicPr>
                      <p:cNvPr id="8" name="think-cell data - do not delete" hidden="1">
                        <a:extLst>
                          <a:ext uri="{FF2B5EF4-FFF2-40B4-BE49-F238E27FC236}">
                            <a16:creationId xmlns:a16="http://schemas.microsoft.com/office/drawing/2014/main" id="{8E78510B-5AD4-1A27-4EC6-C947B719FF49}"/>
                          </a:ext>
                        </a:extLst>
                      </p:cNvPr>
                      <p:cNvPicPr/>
                      <p:nvPr/>
                    </p:nvPicPr>
                    <p:blipFill>
                      <a:blip r:embed="rId63"/>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852" r:id="rId1"/>
    <p:sldLayoutId id="2147483851" r:id="rId2"/>
    <p:sldLayoutId id="2147483784" r:id="rId3"/>
    <p:sldLayoutId id="2147483785" r:id="rId4"/>
    <p:sldLayoutId id="2147483831" r:id="rId5"/>
    <p:sldLayoutId id="2147483783" r:id="rId6"/>
    <p:sldLayoutId id="2147483786" r:id="rId7"/>
    <p:sldLayoutId id="2147483787" r:id="rId8"/>
    <p:sldLayoutId id="2147483788" r:id="rId9"/>
    <p:sldLayoutId id="2147483789" r:id="rId10"/>
    <p:sldLayoutId id="2147483853" r:id="rId11"/>
    <p:sldLayoutId id="2147483858" r:id="rId12"/>
    <p:sldLayoutId id="2147483790" r:id="rId13"/>
    <p:sldLayoutId id="2147483838" r:id="rId14"/>
    <p:sldLayoutId id="2147483791" r:id="rId15"/>
    <p:sldLayoutId id="2147483839"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8" r:id="rId32"/>
    <p:sldLayoutId id="2147483809" r:id="rId33"/>
    <p:sldLayoutId id="2147483810" r:id="rId34"/>
    <p:sldLayoutId id="2147483811" r:id="rId35"/>
    <p:sldLayoutId id="2147483812" r:id="rId36"/>
    <p:sldLayoutId id="2147483813" r:id="rId37"/>
    <p:sldLayoutId id="2147483855" r:id="rId38"/>
    <p:sldLayoutId id="2147483841" r:id="rId39"/>
    <p:sldLayoutId id="2147483842" r:id="rId40"/>
    <p:sldLayoutId id="2147483828" r:id="rId41"/>
    <p:sldLayoutId id="2147483814" r:id="rId42"/>
    <p:sldLayoutId id="2147483815" r:id="rId43"/>
    <p:sldLayoutId id="2147483816" r:id="rId44"/>
    <p:sldLayoutId id="2147483844" r:id="rId45"/>
    <p:sldLayoutId id="2147483817" r:id="rId46"/>
    <p:sldLayoutId id="2147483818" r:id="rId47"/>
    <p:sldLayoutId id="2147483819" r:id="rId48"/>
    <p:sldLayoutId id="2147483820" r:id="rId49"/>
    <p:sldLayoutId id="2147483821" r:id="rId50"/>
    <p:sldLayoutId id="2147483822" r:id="rId51"/>
    <p:sldLayoutId id="2147483847" r:id="rId52"/>
    <p:sldLayoutId id="2147483848" r:id="rId53"/>
    <p:sldLayoutId id="2147483825" r:id="rId54"/>
    <p:sldLayoutId id="2147483826" r:id="rId55"/>
    <p:sldLayoutId id="2147483827" r:id="rId56"/>
    <p:sldLayoutId id="2147483850" r:id="rId57"/>
    <p:sldLayoutId id="2147483829" r:id="rId58"/>
    <p:sldLayoutId id="2147483830" r:id="rId59"/>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tags" Target="../tags/tag2.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DA2F6F4-F1C5-464E-8BF3-03F623021AC0}"/>
              </a:ext>
            </a:extLst>
          </p:cNvPr>
          <p:cNvSpPr>
            <a:spLocks noGrp="1"/>
          </p:cNvSpPr>
          <p:nvPr>
            <p:ph type="subTitle" idx="1"/>
          </p:nvPr>
        </p:nvSpPr>
        <p:spPr>
          <a:xfrm>
            <a:off x="0" y="4939257"/>
            <a:ext cx="5898630" cy="480373"/>
          </a:xfrm>
        </p:spPr>
        <p:txBody>
          <a:bodyPr anchor="t">
            <a:normAutofit/>
          </a:bodyPr>
          <a:lstStyle/>
          <a:p>
            <a:r>
              <a:rPr lang="en-US"/>
              <a:t>Overview of innovations and market trends worldwide</a:t>
            </a:r>
          </a:p>
        </p:txBody>
      </p:sp>
      <p:pic>
        <p:nvPicPr>
          <p:cNvPr id="5" name="Picture Placeholder 4" descr="Solar panel leaned on wall outdoors by the house. No people.">
            <a:extLst>
              <a:ext uri="{FF2B5EF4-FFF2-40B4-BE49-F238E27FC236}">
                <a16:creationId xmlns:a16="http://schemas.microsoft.com/office/drawing/2014/main" id="{C07CA5AF-8BA0-4637-9A1D-5D4AA3DDBDA5}"/>
              </a:ext>
            </a:extLst>
          </p:cNvPr>
          <p:cNvPicPr>
            <a:picLocks noGrp="1" noChangeAspect="1"/>
          </p:cNvPicPr>
          <p:nvPr>
            <p:ph type="pic" sz="quarter" idx="13"/>
          </p:nvPr>
        </p:nvPicPr>
        <p:blipFill>
          <a:blip r:embed="rId3"/>
          <a:srcRect t="10043" b="31172"/>
          <a:stretch>
            <a:fillRect/>
          </a:stretch>
        </p:blipFill>
        <p:spPr>
          <a:xfrm>
            <a:off x="20" y="-1"/>
            <a:ext cx="12191980" cy="4784036"/>
          </a:xfrm>
          <a:prstGeom prst="rect">
            <a:avLst/>
          </a:prstGeom>
          <a:noFill/>
        </p:spPr>
      </p:pic>
      <p:sp>
        <p:nvSpPr>
          <p:cNvPr id="4" name="Title 3">
            <a:extLst>
              <a:ext uri="{FF2B5EF4-FFF2-40B4-BE49-F238E27FC236}">
                <a16:creationId xmlns:a16="http://schemas.microsoft.com/office/drawing/2014/main" id="{F0DEA389-CCBB-C69D-6BE2-FF438D48D8C7}"/>
              </a:ext>
            </a:extLst>
          </p:cNvPr>
          <p:cNvSpPr>
            <a:spLocks noGrp="1"/>
          </p:cNvSpPr>
          <p:nvPr>
            <p:ph type="title"/>
          </p:nvPr>
        </p:nvSpPr>
        <p:spPr>
          <a:xfrm>
            <a:off x="0" y="5300580"/>
            <a:ext cx="10895370" cy="1143000"/>
          </a:xfrm>
        </p:spPr>
        <p:txBody>
          <a:bodyPr anchor="b">
            <a:normAutofit/>
          </a:bodyPr>
          <a:lstStyle/>
          <a:p>
            <a:r>
              <a:rPr lang="en-US" sz="4000" dirty="0"/>
              <a:t>Solar Inverters – Global Market &amp; Technology Brief</a:t>
            </a:r>
          </a:p>
        </p:txBody>
      </p:sp>
    </p:spTree>
    <p:extLst>
      <p:ext uri="{BB962C8B-B14F-4D97-AF65-F5344CB8AC3E}">
        <p14:creationId xmlns:p14="http://schemas.microsoft.com/office/powerpoint/2010/main" val="402347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00"/>
                                        <p:tgtEl>
                                          <p:spTgt spid="2">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BA7FFBB-9A44-B1CB-0A2A-F79A6400BB5C}"/>
              </a:ext>
            </a:extLst>
          </p:cNvPr>
          <p:cNvGraphicFramePr>
            <a:graphicFrameLocks noChangeAspect="1"/>
          </p:cNvGraphicFramePr>
          <p:nvPr>
            <p:custDataLst>
              <p:tags r:id="rId1"/>
            </p:custDataLst>
            <p:extLst>
              <p:ext uri="{D42A27DB-BD31-4B8C-83A1-F6EECF244321}">
                <p14:modId xmlns:p14="http://schemas.microsoft.com/office/powerpoint/2010/main" val="1251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1" imgH="391" progId="TCLayout.ActiveDocument.1">
                  <p:embed/>
                </p:oleObj>
              </mc:Choice>
              <mc:Fallback>
                <p:oleObj name="think-cell Slide" r:id="rId3" imgW="391" imgH="391" progId="TCLayout.ActiveDocument.1">
                  <p:embed/>
                  <p:pic>
                    <p:nvPicPr>
                      <p:cNvPr id="3" name="think-cell data - do not delete" hidden="1">
                        <a:extLst>
                          <a:ext uri="{FF2B5EF4-FFF2-40B4-BE49-F238E27FC236}">
                            <a16:creationId xmlns:a16="http://schemas.microsoft.com/office/drawing/2014/main" id="{5BA7FFBB-9A44-B1CB-0A2A-F79A6400BB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DF03CDF-E81A-52A9-925A-9F7ABF0028A0}"/>
              </a:ext>
            </a:extLst>
          </p:cNvPr>
          <p:cNvSpPr>
            <a:spLocks noGrp="1"/>
          </p:cNvSpPr>
          <p:nvPr>
            <p:ph type="title"/>
          </p:nvPr>
        </p:nvSpPr>
        <p:spPr/>
        <p:txBody>
          <a:bodyPr vert="horz"/>
          <a:lstStyle/>
          <a:p>
            <a:r>
              <a:rPr lang="en-US" dirty="0"/>
              <a:t>Executive Summary</a:t>
            </a:r>
          </a:p>
        </p:txBody>
      </p:sp>
    </p:spTree>
    <p:extLst>
      <p:ext uri="{BB962C8B-B14F-4D97-AF65-F5344CB8AC3E}">
        <p14:creationId xmlns:p14="http://schemas.microsoft.com/office/powerpoint/2010/main" val="3282520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8A5F113-AD27-28FD-1826-D2FCA06B5120}"/>
              </a:ext>
            </a:extLst>
          </p:cNvPr>
          <p:cNvGraphicFramePr>
            <a:graphicFrameLocks noChangeAspect="1"/>
          </p:cNvGraphicFramePr>
          <p:nvPr>
            <p:custDataLst>
              <p:tags r:id="rId1"/>
            </p:custDataLst>
            <p:extLst>
              <p:ext uri="{D42A27DB-BD31-4B8C-83A1-F6EECF244321}">
                <p14:modId xmlns:p14="http://schemas.microsoft.com/office/powerpoint/2010/main" val="3118306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1" imgH="391" progId="TCLayout.ActiveDocument.1">
                  <p:embed/>
                </p:oleObj>
              </mc:Choice>
              <mc:Fallback>
                <p:oleObj name="think-cell Slide" r:id="rId3" imgW="391" imgH="391" progId="TCLayout.ActiveDocument.1">
                  <p:embed/>
                  <p:pic>
                    <p:nvPicPr>
                      <p:cNvPr id="5" name="think-cell data - do not delete" hidden="1">
                        <a:extLst>
                          <a:ext uri="{FF2B5EF4-FFF2-40B4-BE49-F238E27FC236}">
                            <a16:creationId xmlns:a16="http://schemas.microsoft.com/office/drawing/2014/main" id="{08A5F113-AD27-28FD-1826-D2FCA06B51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FA3C405-5612-E554-986B-770BE0EE38C8}"/>
              </a:ext>
            </a:extLst>
          </p:cNvPr>
          <p:cNvSpPr>
            <a:spLocks noGrp="1"/>
          </p:cNvSpPr>
          <p:nvPr>
            <p:ph type="title"/>
          </p:nvPr>
        </p:nvSpPr>
        <p:spPr/>
        <p:txBody>
          <a:bodyPr vert="horz"/>
          <a:lstStyle/>
          <a:p>
            <a:r>
              <a:rPr lang="en-IN" dirty="0"/>
              <a:t>Key Insights &amp; Trends</a:t>
            </a:r>
            <a:endParaRPr lang="en-US" dirty="0"/>
          </a:p>
        </p:txBody>
      </p:sp>
      <p:sp>
        <p:nvSpPr>
          <p:cNvPr id="7" name="TextBox 6">
            <a:extLst>
              <a:ext uri="{FF2B5EF4-FFF2-40B4-BE49-F238E27FC236}">
                <a16:creationId xmlns:a16="http://schemas.microsoft.com/office/drawing/2014/main" id="{A3DD6313-E686-9561-F4F8-E4615A4D8BB7}"/>
              </a:ext>
            </a:extLst>
          </p:cNvPr>
          <p:cNvSpPr txBox="1"/>
          <p:nvPr/>
        </p:nvSpPr>
        <p:spPr>
          <a:xfrm>
            <a:off x="516248" y="2133711"/>
            <a:ext cx="10875651" cy="3486917"/>
          </a:xfrm>
          <a:prstGeom prst="rect">
            <a:avLst/>
          </a:prstGeom>
          <a:noFill/>
        </p:spPr>
        <p:txBody>
          <a:bodyPr wrap="square">
            <a:spAutoFit/>
          </a:bodyPr>
          <a:lstStyle/>
          <a:p>
            <a:pPr>
              <a:lnSpc>
                <a:spcPct val="150000"/>
              </a:lnSpc>
              <a:spcBef>
                <a:spcPts val="400"/>
              </a:spcBef>
              <a:spcAft>
                <a:spcPts val="400"/>
              </a:spcAft>
            </a:pPr>
            <a:r>
              <a:rPr lang="en-IN" sz="2200" dirty="0">
                <a:latin typeface="Arial" panose="020B0604020202020204" pitchFamily="34" charset="0"/>
                <a:cs typeface="Arial" panose="020B0604020202020204" pitchFamily="34" charset="0"/>
              </a:rPr>
              <a:t>Global solar inverter market poised for steady growth; hybrid and smart inverter adoption accelerating.</a:t>
            </a:r>
          </a:p>
          <a:p>
            <a:pPr lvl="1">
              <a:lnSpc>
                <a:spcPct val="150000"/>
              </a:lnSpc>
              <a:spcBef>
                <a:spcPts val="400"/>
              </a:spcBef>
              <a:spcAft>
                <a:spcPts val="400"/>
              </a:spcAft>
            </a:pPr>
            <a:r>
              <a:rPr lang="en-IN" sz="2200" dirty="0">
                <a:latin typeface="Arial" panose="020B0604020202020204" pitchFamily="34" charset="0"/>
                <a:cs typeface="Arial" panose="020B0604020202020204" pitchFamily="34" charset="0"/>
              </a:rPr>
              <a:t>• Market size: $12.9B (2025) → $21.6B (2035), CAGR ~5.3%.</a:t>
            </a:r>
          </a:p>
          <a:p>
            <a:pPr lvl="1">
              <a:lnSpc>
                <a:spcPct val="150000"/>
              </a:lnSpc>
              <a:spcBef>
                <a:spcPts val="400"/>
              </a:spcBef>
              <a:spcAft>
                <a:spcPts val="400"/>
              </a:spcAft>
            </a:pPr>
            <a:r>
              <a:rPr lang="en-IN" sz="2200" dirty="0">
                <a:latin typeface="Arial" panose="020B0604020202020204" pitchFamily="34" charset="0"/>
                <a:cs typeface="Arial" panose="020B0604020202020204" pitchFamily="34" charset="0"/>
              </a:rPr>
              <a:t>• Huawei &amp; Sungrow dominate globally; India led by Sungrow (29%).</a:t>
            </a:r>
          </a:p>
          <a:p>
            <a:pPr lvl="1">
              <a:lnSpc>
                <a:spcPct val="150000"/>
              </a:lnSpc>
              <a:spcBef>
                <a:spcPts val="400"/>
              </a:spcBef>
              <a:spcAft>
                <a:spcPts val="400"/>
              </a:spcAft>
            </a:pPr>
            <a:r>
              <a:rPr lang="en-IN" sz="2200" dirty="0">
                <a:latin typeface="Arial" panose="020B0604020202020204" pitchFamily="34" charset="0"/>
                <a:cs typeface="Arial" panose="020B0604020202020204" pitchFamily="34" charset="0"/>
              </a:rPr>
              <a:t>• Trends: Hybrid/storage integration, AI-driven MPPT, </a:t>
            </a:r>
            <a:r>
              <a:rPr lang="en-IN" sz="2200" dirty="0" err="1">
                <a:latin typeface="Arial" panose="020B0604020202020204" pitchFamily="34" charset="0"/>
                <a:cs typeface="Arial" panose="020B0604020202020204" pitchFamily="34" charset="0"/>
              </a:rPr>
              <a:t>SiC</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GaN</a:t>
            </a:r>
            <a:r>
              <a:rPr lang="en-IN" sz="2200" dirty="0">
                <a:latin typeface="Arial" panose="020B0604020202020204" pitchFamily="34" charset="0"/>
                <a:cs typeface="Arial" panose="020B0604020202020204" pitchFamily="34" charset="0"/>
              </a:rPr>
              <a:t> semiconductors.</a:t>
            </a:r>
          </a:p>
          <a:p>
            <a:pPr lvl="1">
              <a:lnSpc>
                <a:spcPct val="150000"/>
              </a:lnSpc>
              <a:spcBef>
                <a:spcPts val="400"/>
              </a:spcBef>
              <a:spcAft>
                <a:spcPts val="400"/>
              </a:spcAft>
            </a:pPr>
            <a:r>
              <a:rPr lang="en-IN" sz="2200" dirty="0">
                <a:latin typeface="Arial" panose="020B0604020202020204" pitchFamily="34" charset="0"/>
                <a:cs typeface="Arial" panose="020B0604020202020204" pitchFamily="34" charset="0"/>
              </a:rPr>
              <a:t>• Regulations: Net billing (US), rooftop mandates (EU), ALMM expansion (India).</a:t>
            </a:r>
          </a:p>
        </p:txBody>
      </p:sp>
    </p:spTree>
    <p:extLst>
      <p:ext uri="{BB962C8B-B14F-4D97-AF65-F5344CB8AC3E}">
        <p14:creationId xmlns:p14="http://schemas.microsoft.com/office/powerpoint/2010/main" val="4091806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AFC94-54EB-1FAF-F19A-00B935E97F2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DA06DC3-A30A-7AE9-5655-302FF4098CBD}"/>
              </a:ext>
            </a:extLst>
          </p:cNvPr>
          <p:cNvGraphicFramePr>
            <a:graphicFrameLocks noChangeAspect="1"/>
          </p:cNvGraphicFramePr>
          <p:nvPr>
            <p:custDataLst>
              <p:tags r:id="rId1"/>
            </p:custDataLst>
            <p:extLst>
              <p:ext uri="{D42A27DB-BD31-4B8C-83A1-F6EECF244321}">
                <p14:modId xmlns:p14="http://schemas.microsoft.com/office/powerpoint/2010/main" val="461284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1" imgH="391" progId="TCLayout.ActiveDocument.1">
                  <p:embed/>
                </p:oleObj>
              </mc:Choice>
              <mc:Fallback>
                <p:oleObj name="think-cell Slide" r:id="rId4" imgW="391" imgH="391" progId="TCLayout.ActiveDocument.1">
                  <p:embed/>
                  <p:pic>
                    <p:nvPicPr>
                      <p:cNvPr id="4" name="think-cell data - do not delete" hidden="1">
                        <a:extLst>
                          <a:ext uri="{FF2B5EF4-FFF2-40B4-BE49-F238E27FC236}">
                            <a16:creationId xmlns:a16="http://schemas.microsoft.com/office/drawing/2014/main" id="{9DA06DC3-A30A-7AE9-5655-302FF4098C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CE9390D-4992-B7C5-E957-E15BCD9FAC59}"/>
              </a:ext>
            </a:extLst>
          </p:cNvPr>
          <p:cNvSpPr>
            <a:spLocks noGrp="1"/>
          </p:cNvSpPr>
          <p:nvPr>
            <p:ph type="title"/>
          </p:nvPr>
        </p:nvSpPr>
        <p:spPr>
          <a:xfrm>
            <a:off x="516249" y="1012175"/>
            <a:ext cx="11113008" cy="849793"/>
          </a:xfrm>
        </p:spPr>
        <p:txBody>
          <a:bodyPr vert="horz" anchor="t">
            <a:normAutofit fontScale="90000"/>
          </a:bodyPr>
          <a:lstStyle/>
          <a:p>
            <a:r>
              <a:rPr lang="en-US" dirty="0"/>
              <a:t>KPI Scores Heatmap and Rankings – Global Manufacturers</a:t>
            </a:r>
          </a:p>
        </p:txBody>
      </p:sp>
      <p:pic>
        <p:nvPicPr>
          <p:cNvPr id="8" name="Picture 7" descr="kpi_heatmap.png">
            <a:extLst>
              <a:ext uri="{FF2B5EF4-FFF2-40B4-BE49-F238E27FC236}">
                <a16:creationId xmlns:a16="http://schemas.microsoft.com/office/drawing/2014/main" id="{41F8A511-6098-9424-6C1A-BCCEBBEAB9A1}"/>
              </a:ext>
            </a:extLst>
          </p:cNvPr>
          <p:cNvPicPr>
            <a:picLocks noChangeAspect="1"/>
          </p:cNvPicPr>
          <p:nvPr/>
        </p:nvPicPr>
        <p:blipFill>
          <a:blip r:embed="rId6"/>
          <a:stretch>
            <a:fillRect/>
          </a:stretch>
        </p:blipFill>
        <p:spPr>
          <a:xfrm>
            <a:off x="180975" y="2514599"/>
            <a:ext cx="5981262" cy="3588757"/>
          </a:xfrm>
          <a:prstGeom prst="rect">
            <a:avLst/>
          </a:prstGeom>
        </p:spPr>
      </p:pic>
      <p:pic>
        <p:nvPicPr>
          <p:cNvPr id="9" name="Picture 8" descr="kpi_ranking.png">
            <a:extLst>
              <a:ext uri="{FF2B5EF4-FFF2-40B4-BE49-F238E27FC236}">
                <a16:creationId xmlns:a16="http://schemas.microsoft.com/office/drawing/2014/main" id="{9181E376-E8DB-4E18-0415-23CB3439550E}"/>
              </a:ext>
            </a:extLst>
          </p:cNvPr>
          <p:cNvPicPr>
            <a:picLocks noChangeAspect="1"/>
          </p:cNvPicPr>
          <p:nvPr/>
        </p:nvPicPr>
        <p:blipFill>
          <a:blip r:embed="rId7"/>
          <a:stretch>
            <a:fillRect/>
          </a:stretch>
        </p:blipFill>
        <p:spPr>
          <a:xfrm>
            <a:off x="5761854" y="2514601"/>
            <a:ext cx="6065520" cy="3790950"/>
          </a:xfrm>
          <a:prstGeom prst="rect">
            <a:avLst/>
          </a:prstGeom>
        </p:spPr>
      </p:pic>
    </p:spTree>
    <p:extLst>
      <p:ext uri="{BB962C8B-B14F-4D97-AF65-F5344CB8AC3E}">
        <p14:creationId xmlns:p14="http://schemas.microsoft.com/office/powerpoint/2010/main" val="18375617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1AF401-0266-CA4D-6639-B5ECC5294004}"/>
              </a:ext>
            </a:extLst>
          </p:cNvPr>
          <p:cNvSpPr>
            <a:spLocks noGrp="1"/>
          </p:cNvSpPr>
          <p:nvPr>
            <p:ph type="title"/>
          </p:nvPr>
        </p:nvSpPr>
        <p:spPr>
          <a:xfrm>
            <a:off x="0" y="2139696"/>
            <a:ext cx="8071011" cy="4718304"/>
          </a:xfrm>
        </p:spPr>
        <p:txBody>
          <a:bodyPr anchor="b">
            <a:normAutofit/>
          </a:bodyPr>
          <a:lstStyle/>
          <a:p>
            <a:r>
              <a:rPr lang="en-US"/>
              <a:t>Global Market Overview</a:t>
            </a:r>
          </a:p>
        </p:txBody>
      </p:sp>
    </p:spTree>
    <p:extLst>
      <p:ext uri="{BB962C8B-B14F-4D97-AF65-F5344CB8AC3E}">
        <p14:creationId xmlns:p14="http://schemas.microsoft.com/office/powerpoint/2010/main" val="715526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7331-0477-5A8D-A581-B251D9B108C7}"/>
              </a:ext>
            </a:extLst>
          </p:cNvPr>
          <p:cNvSpPr>
            <a:spLocks noGrp="1"/>
          </p:cNvSpPr>
          <p:nvPr>
            <p:ph type="title"/>
          </p:nvPr>
        </p:nvSpPr>
        <p:spPr>
          <a:xfrm>
            <a:off x="516249" y="1012175"/>
            <a:ext cx="11113008" cy="849793"/>
          </a:xfrm>
        </p:spPr>
        <p:txBody>
          <a:bodyPr anchor="t">
            <a:normAutofit/>
          </a:bodyPr>
          <a:lstStyle/>
          <a:p>
            <a:r>
              <a:rPr lang="en-US"/>
              <a:t>Market Size and Growth Forecast</a:t>
            </a:r>
          </a:p>
        </p:txBody>
      </p:sp>
      <p:graphicFrame>
        <p:nvGraphicFramePr>
          <p:cNvPr id="5" name="Content Placeholder 4">
            <a:extLst>
              <a:ext uri="{FF2B5EF4-FFF2-40B4-BE49-F238E27FC236}">
                <a16:creationId xmlns:a16="http://schemas.microsoft.com/office/drawing/2014/main" id="{935E925E-D522-449D-84FF-12B82F381F30}"/>
              </a:ext>
            </a:extLst>
          </p:cNvPr>
          <p:cNvGraphicFramePr>
            <a:graphicFrameLocks noGrp="1"/>
          </p:cNvGraphicFramePr>
          <p:nvPr>
            <p:ph idx="1"/>
          </p:nvPr>
        </p:nvGraphicFramePr>
        <p:xfrm>
          <a:off x="539496" y="2405349"/>
          <a:ext cx="11013673" cy="3871901"/>
        </p:xfrm>
        <a:graphic>
          <a:graphicData uri="http://schemas.openxmlformats.org/drawingml/2006/table">
            <a:tbl>
              <a:tblPr firstRow="1" bandRow="1">
                <a:noFill/>
                <a:tableStyleId>{5C22544A-7EE6-4342-B048-85BDC9FD1C3A}</a:tableStyleId>
              </a:tblPr>
              <a:tblGrid>
                <a:gridCol w="1816509">
                  <a:extLst>
                    <a:ext uri="{9D8B030D-6E8A-4147-A177-3AD203B41FA5}">
                      <a16:colId xmlns:a16="http://schemas.microsoft.com/office/drawing/2014/main" val="1035783572"/>
                    </a:ext>
                  </a:extLst>
                </a:gridCol>
                <a:gridCol w="1293898">
                  <a:extLst>
                    <a:ext uri="{9D8B030D-6E8A-4147-A177-3AD203B41FA5}">
                      <a16:colId xmlns:a16="http://schemas.microsoft.com/office/drawing/2014/main" val="984201908"/>
                    </a:ext>
                  </a:extLst>
                </a:gridCol>
                <a:gridCol w="1713540">
                  <a:extLst>
                    <a:ext uri="{9D8B030D-6E8A-4147-A177-3AD203B41FA5}">
                      <a16:colId xmlns:a16="http://schemas.microsoft.com/office/drawing/2014/main" val="808550034"/>
                    </a:ext>
                  </a:extLst>
                </a:gridCol>
                <a:gridCol w="2063242">
                  <a:extLst>
                    <a:ext uri="{9D8B030D-6E8A-4147-A177-3AD203B41FA5}">
                      <a16:colId xmlns:a16="http://schemas.microsoft.com/office/drawing/2014/main" val="3849706593"/>
                    </a:ext>
                  </a:extLst>
                </a:gridCol>
                <a:gridCol w="2451800">
                  <a:extLst>
                    <a:ext uri="{9D8B030D-6E8A-4147-A177-3AD203B41FA5}">
                      <a16:colId xmlns:a16="http://schemas.microsoft.com/office/drawing/2014/main" val="3290159409"/>
                    </a:ext>
                  </a:extLst>
                </a:gridCol>
                <a:gridCol w="1674684">
                  <a:extLst>
                    <a:ext uri="{9D8B030D-6E8A-4147-A177-3AD203B41FA5}">
                      <a16:colId xmlns:a16="http://schemas.microsoft.com/office/drawing/2014/main" val="1750036980"/>
                    </a:ext>
                  </a:extLst>
                </a:gridCol>
              </a:tblGrid>
              <a:tr h="1275713">
                <a:tc>
                  <a:txBody>
                    <a:bodyPr/>
                    <a:lstStyle/>
                    <a:p>
                      <a:pPr>
                        <a:buNone/>
                      </a:pPr>
                      <a:r>
                        <a:rPr lang="en-US" sz="2000" b="1" cap="all" spc="150">
                          <a:solidFill>
                            <a:schemeClr val="tx1"/>
                          </a:solidFill>
                        </a:rPr>
                        <a:t>Source</a:t>
                      </a:r>
                    </a:p>
                  </a:txBody>
                  <a:tcPr marL="167857" marR="167857" marT="167857" marB="167857"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000" b="1" cap="all" spc="150">
                          <a:solidFill>
                            <a:schemeClr val="tx1"/>
                          </a:solidFill>
                        </a:rPr>
                        <a:t>Base Year</a:t>
                      </a:r>
                    </a:p>
                  </a:txBody>
                  <a:tcPr marL="167857" marR="167857" marT="167857" marB="167857"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000" b="1" cap="all" spc="150">
                          <a:solidFill>
                            <a:schemeClr val="tx1"/>
                          </a:solidFill>
                        </a:rPr>
                        <a:t>Market Size (Base)</a:t>
                      </a:r>
                    </a:p>
                  </a:txBody>
                  <a:tcPr marL="167857" marR="167857" marT="167857" marB="167857"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000" b="1" cap="all" spc="150">
                          <a:solidFill>
                            <a:schemeClr val="tx1"/>
                          </a:solidFill>
                        </a:rPr>
                        <a:t>Forecast Year</a:t>
                      </a:r>
                    </a:p>
                  </a:txBody>
                  <a:tcPr marL="167857" marR="167857" marT="167857" marB="167857"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000" b="1" cap="all" spc="150">
                          <a:solidFill>
                            <a:schemeClr val="tx1"/>
                          </a:solidFill>
                        </a:rPr>
                        <a:t>Market Size (Forecast)</a:t>
                      </a:r>
                    </a:p>
                  </a:txBody>
                  <a:tcPr marL="167857" marR="167857" marT="167857" marB="167857"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000" b="1" cap="all" spc="150">
                          <a:solidFill>
                            <a:schemeClr val="tx1"/>
                          </a:solidFill>
                        </a:rPr>
                        <a:t>CAGR %</a:t>
                      </a:r>
                    </a:p>
                  </a:txBody>
                  <a:tcPr marL="167857" marR="167857" marT="167857" marB="167857"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4081654076"/>
                  </a:ext>
                </a:extLst>
              </a:tr>
              <a:tr h="865396">
                <a:tc>
                  <a:txBody>
                    <a:bodyPr/>
                    <a:lstStyle/>
                    <a:p>
                      <a:pPr>
                        <a:buNone/>
                      </a:pPr>
                      <a:r>
                        <a:rPr lang="en-US" sz="1600" b="1" cap="none" spc="0">
                          <a:solidFill>
                            <a:schemeClr val="tx1"/>
                          </a:solidFill>
                        </a:rPr>
                        <a:t>Global Market Statistics</a:t>
                      </a:r>
                    </a:p>
                  </a:txBody>
                  <a:tcPr marL="167857" marR="167857" marT="167857" marB="167857"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2024</a:t>
                      </a:r>
                    </a:p>
                  </a:txBody>
                  <a:tcPr marL="167857" marR="167857" marT="167857" marB="167857"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USD 15.9B</a:t>
                      </a:r>
                    </a:p>
                  </a:txBody>
                  <a:tcPr marL="167857" marR="167857" marT="167857" marB="167857"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2033</a:t>
                      </a:r>
                    </a:p>
                  </a:txBody>
                  <a:tcPr marL="167857" marR="167857" marT="167857" marB="167857"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USD 20.5B</a:t>
                      </a:r>
                    </a:p>
                  </a:txBody>
                  <a:tcPr marL="167857" marR="167857" marT="167857" marB="167857"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8.9%</a:t>
                      </a:r>
                    </a:p>
                  </a:txBody>
                  <a:tcPr marL="167857" marR="167857" marT="167857" marB="167857"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323043227"/>
                  </a:ext>
                </a:extLst>
              </a:tr>
              <a:tr h="865396">
                <a:tc>
                  <a:txBody>
                    <a:bodyPr/>
                    <a:lstStyle/>
                    <a:p>
                      <a:pPr>
                        <a:buNone/>
                      </a:pPr>
                      <a:r>
                        <a:rPr lang="en-US" sz="1600" b="1" cap="none" spc="0">
                          <a:solidFill>
                            <a:schemeClr val="tx1"/>
                          </a:solidFill>
                        </a:rPr>
                        <a:t>Global Market Insights</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2024</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USD 34.6B</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2034</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USD 90B</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9.5%</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022928653"/>
                  </a:ext>
                </a:extLst>
              </a:tr>
              <a:tr h="865396">
                <a:tc>
                  <a:txBody>
                    <a:bodyPr/>
                    <a:lstStyle/>
                    <a:p>
                      <a:pPr>
                        <a:buNone/>
                      </a:pPr>
                      <a:r>
                        <a:rPr lang="en-US" sz="1600" b="1" cap="none" spc="0">
                          <a:solidFill>
                            <a:schemeClr val="tx1"/>
                          </a:solidFill>
                        </a:rPr>
                        <a:t>Future Market Insights</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2025</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USD 12.9B</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2035</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USD 21.6B</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5.3%</a:t>
                      </a:r>
                    </a:p>
                  </a:txBody>
                  <a:tcPr marL="167857" marR="167857" marT="167857" marB="167857"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861153311"/>
                  </a:ext>
                </a:extLst>
              </a:tr>
            </a:tbl>
          </a:graphicData>
        </a:graphic>
      </p:graphicFrame>
    </p:spTree>
    <p:extLst>
      <p:ext uri="{BB962C8B-B14F-4D97-AF65-F5344CB8AC3E}">
        <p14:creationId xmlns:p14="http://schemas.microsoft.com/office/powerpoint/2010/main" val="8850595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B53AA-C873-D910-0408-4BF9C7E33F92}"/>
              </a:ext>
            </a:extLst>
          </p:cNvPr>
          <p:cNvSpPr>
            <a:spLocks noGrp="1"/>
          </p:cNvSpPr>
          <p:nvPr>
            <p:ph type="title"/>
          </p:nvPr>
        </p:nvSpPr>
        <p:spPr>
          <a:xfrm>
            <a:off x="516249" y="1012175"/>
            <a:ext cx="11113008" cy="849793"/>
          </a:xfrm>
        </p:spPr>
        <p:txBody>
          <a:bodyPr anchor="t">
            <a:normAutofit/>
          </a:bodyPr>
          <a:lstStyle/>
          <a:p>
            <a:r>
              <a:rPr lang="en-US"/>
              <a:t>Regional Shipment Distribution</a:t>
            </a:r>
          </a:p>
        </p:txBody>
      </p:sp>
      <p:graphicFrame>
        <p:nvGraphicFramePr>
          <p:cNvPr id="5" name="Content Placeholder 4">
            <a:extLst>
              <a:ext uri="{FF2B5EF4-FFF2-40B4-BE49-F238E27FC236}">
                <a16:creationId xmlns:a16="http://schemas.microsoft.com/office/drawing/2014/main" id="{01E124AD-309D-422E-B603-40C93EAD6F15}"/>
              </a:ext>
            </a:extLst>
          </p:cNvPr>
          <p:cNvGraphicFramePr>
            <a:graphicFrameLocks noGrp="1"/>
          </p:cNvGraphicFramePr>
          <p:nvPr>
            <p:ph idx="1"/>
          </p:nvPr>
        </p:nvGraphicFramePr>
        <p:xfrm>
          <a:off x="708411" y="2115542"/>
          <a:ext cx="10675840" cy="4451516"/>
        </p:xfrm>
        <a:graphic>
          <a:graphicData uri="http://schemas.openxmlformats.org/drawingml/2006/table">
            <a:tbl>
              <a:tblPr firstRow="1" bandRow="1">
                <a:noFill/>
                <a:tableStyleId>{5C22544A-7EE6-4342-B048-85BDC9FD1C3A}</a:tableStyleId>
              </a:tblPr>
              <a:tblGrid>
                <a:gridCol w="4113221">
                  <a:extLst>
                    <a:ext uri="{9D8B030D-6E8A-4147-A177-3AD203B41FA5}">
                      <a16:colId xmlns:a16="http://schemas.microsoft.com/office/drawing/2014/main" val="4259193289"/>
                    </a:ext>
                  </a:extLst>
                </a:gridCol>
                <a:gridCol w="6562619">
                  <a:extLst>
                    <a:ext uri="{9D8B030D-6E8A-4147-A177-3AD203B41FA5}">
                      <a16:colId xmlns:a16="http://schemas.microsoft.com/office/drawing/2014/main" val="1597152633"/>
                    </a:ext>
                  </a:extLst>
                </a:gridCol>
              </a:tblGrid>
              <a:tr h="953148">
                <a:tc>
                  <a:txBody>
                    <a:bodyPr/>
                    <a:lstStyle/>
                    <a:p>
                      <a:pPr>
                        <a:buNone/>
                      </a:pPr>
                      <a:r>
                        <a:rPr lang="en-US" sz="2700" b="1" cap="all" spc="150">
                          <a:solidFill>
                            <a:schemeClr val="tx1"/>
                          </a:solidFill>
                        </a:rPr>
                        <a:t>Region</a:t>
                      </a:r>
                    </a:p>
                  </a:txBody>
                  <a:tcPr marL="235668" marR="235668" marT="235668" marB="23566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700" b="1" cap="all" spc="150">
                          <a:solidFill>
                            <a:schemeClr val="tx1"/>
                          </a:solidFill>
                        </a:rPr>
                        <a:t>Share % (2024)</a:t>
                      </a:r>
                    </a:p>
                  </a:txBody>
                  <a:tcPr marL="235668" marR="235668" marT="235668" marB="235668"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2718004750"/>
                  </a:ext>
                </a:extLst>
              </a:tr>
              <a:tr h="874592">
                <a:tc>
                  <a:txBody>
                    <a:bodyPr/>
                    <a:lstStyle/>
                    <a:p>
                      <a:pPr>
                        <a:buNone/>
                      </a:pPr>
                      <a:r>
                        <a:rPr lang="en-US" sz="2200" b="1" cap="none" spc="0">
                          <a:solidFill>
                            <a:schemeClr val="tx1"/>
                          </a:solidFill>
                        </a:rPr>
                        <a:t>APAC</a:t>
                      </a:r>
                    </a:p>
                  </a:txBody>
                  <a:tcPr marL="235668" marR="235668" marT="235668" marB="23566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2200" cap="none" spc="0">
                          <a:solidFill>
                            <a:schemeClr val="tx1"/>
                          </a:solidFill>
                        </a:rPr>
                        <a:t>69%</a:t>
                      </a:r>
                    </a:p>
                  </a:txBody>
                  <a:tcPr marL="235668" marR="235668" marT="235668" marB="23566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19375718"/>
                  </a:ext>
                </a:extLst>
              </a:tr>
              <a:tr h="874592">
                <a:tc>
                  <a:txBody>
                    <a:bodyPr/>
                    <a:lstStyle/>
                    <a:p>
                      <a:pPr>
                        <a:buNone/>
                      </a:pPr>
                      <a:r>
                        <a:rPr lang="en-US" sz="2200" b="1" cap="none" spc="0">
                          <a:solidFill>
                            <a:schemeClr val="tx1"/>
                          </a:solidFill>
                        </a:rPr>
                        <a:t>US</a:t>
                      </a:r>
                    </a:p>
                  </a:txBody>
                  <a:tcPr marL="235668" marR="235668" marT="235668" marB="23566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200" cap="none" spc="0">
                          <a:solidFill>
                            <a:schemeClr val="tx1"/>
                          </a:solidFill>
                        </a:rPr>
                        <a:t>10%</a:t>
                      </a:r>
                    </a:p>
                  </a:txBody>
                  <a:tcPr marL="235668" marR="235668" marT="235668" marB="23566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123001364"/>
                  </a:ext>
                </a:extLst>
              </a:tr>
              <a:tr h="874592">
                <a:tc>
                  <a:txBody>
                    <a:bodyPr/>
                    <a:lstStyle/>
                    <a:p>
                      <a:pPr>
                        <a:buNone/>
                      </a:pPr>
                      <a:r>
                        <a:rPr lang="en-US" sz="2200" b="1" cap="none" spc="0">
                          <a:solidFill>
                            <a:schemeClr val="tx1"/>
                          </a:solidFill>
                        </a:rPr>
                        <a:t>Europe</a:t>
                      </a:r>
                    </a:p>
                  </a:txBody>
                  <a:tcPr marL="235668" marR="235668" marT="235668" marB="23566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200" cap="none" spc="0">
                          <a:solidFill>
                            <a:schemeClr val="tx1"/>
                          </a:solidFill>
                        </a:rPr>
                        <a:t>15%</a:t>
                      </a:r>
                    </a:p>
                  </a:txBody>
                  <a:tcPr marL="235668" marR="235668" marT="235668" marB="23566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558793193"/>
                  </a:ext>
                </a:extLst>
              </a:tr>
              <a:tr h="874592">
                <a:tc>
                  <a:txBody>
                    <a:bodyPr/>
                    <a:lstStyle/>
                    <a:p>
                      <a:pPr>
                        <a:buNone/>
                      </a:pPr>
                      <a:r>
                        <a:rPr lang="en-US" sz="2200" b="1" cap="none" spc="0">
                          <a:solidFill>
                            <a:schemeClr val="tx1"/>
                          </a:solidFill>
                        </a:rPr>
                        <a:t>Rest of World</a:t>
                      </a:r>
                    </a:p>
                  </a:txBody>
                  <a:tcPr marL="235668" marR="235668" marT="235668" marB="23566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200" cap="none" spc="0">
                          <a:solidFill>
                            <a:schemeClr val="tx1"/>
                          </a:solidFill>
                        </a:rPr>
                        <a:t>6%</a:t>
                      </a:r>
                    </a:p>
                  </a:txBody>
                  <a:tcPr marL="235668" marR="235668" marT="235668" marB="23566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79292570"/>
                  </a:ext>
                </a:extLst>
              </a:tr>
            </a:tbl>
          </a:graphicData>
        </a:graphic>
      </p:graphicFrame>
    </p:spTree>
    <p:extLst>
      <p:ext uri="{BB962C8B-B14F-4D97-AF65-F5344CB8AC3E}">
        <p14:creationId xmlns:p14="http://schemas.microsoft.com/office/powerpoint/2010/main" val="296377276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2BAD18-163C-B1F2-A39A-C5EAB11C7958}"/>
              </a:ext>
            </a:extLst>
          </p:cNvPr>
          <p:cNvSpPr>
            <a:spLocks noGrp="1"/>
          </p:cNvSpPr>
          <p:nvPr>
            <p:ph type="title"/>
          </p:nvPr>
        </p:nvSpPr>
        <p:spPr>
          <a:xfrm>
            <a:off x="0" y="2139696"/>
            <a:ext cx="8071011" cy="4718304"/>
          </a:xfrm>
        </p:spPr>
        <p:txBody>
          <a:bodyPr anchor="b">
            <a:normAutofit/>
          </a:bodyPr>
          <a:lstStyle/>
          <a:p>
            <a:r>
              <a:rPr lang="en-US"/>
              <a:t>Competitive Landscape</a:t>
            </a:r>
          </a:p>
        </p:txBody>
      </p:sp>
    </p:spTree>
    <p:extLst>
      <p:ext uri="{BB962C8B-B14F-4D97-AF65-F5344CB8AC3E}">
        <p14:creationId xmlns:p14="http://schemas.microsoft.com/office/powerpoint/2010/main" val="808703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66DD-A8E2-5A1D-152E-373561CD9F98}"/>
              </a:ext>
            </a:extLst>
          </p:cNvPr>
          <p:cNvSpPr>
            <a:spLocks noGrp="1"/>
          </p:cNvSpPr>
          <p:nvPr>
            <p:ph type="title"/>
          </p:nvPr>
        </p:nvSpPr>
        <p:spPr>
          <a:xfrm>
            <a:off x="516249" y="1012175"/>
            <a:ext cx="11113008" cy="849793"/>
          </a:xfrm>
        </p:spPr>
        <p:txBody>
          <a:bodyPr anchor="t">
            <a:normAutofit/>
          </a:bodyPr>
          <a:lstStyle/>
          <a:p>
            <a:r>
              <a:rPr lang="en-US"/>
              <a:t>Global Leading Manufacturers</a:t>
            </a:r>
          </a:p>
        </p:txBody>
      </p:sp>
      <p:graphicFrame>
        <p:nvGraphicFramePr>
          <p:cNvPr id="5" name="Content Placeholder 4">
            <a:extLst>
              <a:ext uri="{FF2B5EF4-FFF2-40B4-BE49-F238E27FC236}">
                <a16:creationId xmlns:a16="http://schemas.microsoft.com/office/drawing/2014/main" id="{E7BF4EE6-832C-4934-A9D1-1809D44A419E}"/>
              </a:ext>
            </a:extLst>
          </p:cNvPr>
          <p:cNvGraphicFramePr>
            <a:graphicFrameLocks noGrp="1"/>
          </p:cNvGraphicFramePr>
          <p:nvPr>
            <p:ph idx="1"/>
          </p:nvPr>
        </p:nvGraphicFramePr>
        <p:xfrm>
          <a:off x="539496" y="2527001"/>
          <a:ext cx="11013670" cy="3628601"/>
        </p:xfrm>
        <a:graphic>
          <a:graphicData uri="http://schemas.openxmlformats.org/drawingml/2006/table">
            <a:tbl>
              <a:tblPr firstRow="1" bandRow="1">
                <a:noFill/>
                <a:tableStyleId>{5C22544A-7EE6-4342-B048-85BDC9FD1C3A}</a:tableStyleId>
              </a:tblPr>
              <a:tblGrid>
                <a:gridCol w="4570237">
                  <a:extLst>
                    <a:ext uri="{9D8B030D-6E8A-4147-A177-3AD203B41FA5}">
                      <a16:colId xmlns:a16="http://schemas.microsoft.com/office/drawing/2014/main" val="34025903"/>
                    </a:ext>
                  </a:extLst>
                </a:gridCol>
                <a:gridCol w="6443433">
                  <a:extLst>
                    <a:ext uri="{9D8B030D-6E8A-4147-A177-3AD203B41FA5}">
                      <a16:colId xmlns:a16="http://schemas.microsoft.com/office/drawing/2014/main" val="1555054121"/>
                    </a:ext>
                  </a:extLst>
                </a:gridCol>
              </a:tblGrid>
              <a:tr h="649366">
                <a:tc>
                  <a:txBody>
                    <a:bodyPr/>
                    <a:lstStyle/>
                    <a:p>
                      <a:pPr>
                        <a:buNone/>
                      </a:pPr>
                      <a:r>
                        <a:rPr lang="en-US" sz="1900" b="1" cap="all" spc="150">
                          <a:solidFill>
                            <a:schemeClr val="tx1"/>
                          </a:solidFill>
                        </a:rPr>
                        <a:t>Manufacturer</a:t>
                      </a:r>
                    </a:p>
                  </a:txBody>
                  <a:tcPr marL="160557" marR="160557" marT="160557" marB="16055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900" b="1" cap="all" spc="150">
                          <a:solidFill>
                            <a:schemeClr val="tx1"/>
                          </a:solidFill>
                        </a:rPr>
                        <a:t>Global Share % (2024)</a:t>
                      </a:r>
                    </a:p>
                  </a:txBody>
                  <a:tcPr marL="160557" marR="160557" marT="160557" marB="16055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4259151364"/>
                  </a:ext>
                </a:extLst>
              </a:tr>
              <a:tr h="595847">
                <a:tc>
                  <a:txBody>
                    <a:bodyPr/>
                    <a:lstStyle/>
                    <a:p>
                      <a:pPr>
                        <a:buNone/>
                      </a:pPr>
                      <a:r>
                        <a:rPr lang="en-US" sz="1500" b="1" cap="none" spc="0">
                          <a:solidFill>
                            <a:schemeClr val="tx1"/>
                          </a:solidFill>
                        </a:rPr>
                        <a:t>Huawei</a:t>
                      </a:r>
                    </a:p>
                  </a:txBody>
                  <a:tcPr marL="160557" marR="160557" marT="160557" marB="16055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30%</a:t>
                      </a:r>
                    </a:p>
                  </a:txBody>
                  <a:tcPr marL="160557" marR="160557" marT="160557" marB="16055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887404205"/>
                  </a:ext>
                </a:extLst>
              </a:tr>
              <a:tr h="595847">
                <a:tc>
                  <a:txBody>
                    <a:bodyPr/>
                    <a:lstStyle/>
                    <a:p>
                      <a:pPr>
                        <a:buNone/>
                      </a:pPr>
                      <a:r>
                        <a:rPr lang="en-US" sz="1500" b="1" cap="none" spc="0">
                          <a:solidFill>
                            <a:schemeClr val="tx1"/>
                          </a:solidFill>
                        </a:rPr>
                        <a:t>Sungrow</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25%</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55182160"/>
                  </a:ext>
                </a:extLst>
              </a:tr>
              <a:tr h="595847">
                <a:tc>
                  <a:txBody>
                    <a:bodyPr/>
                    <a:lstStyle/>
                    <a:p>
                      <a:pPr>
                        <a:buNone/>
                      </a:pPr>
                      <a:r>
                        <a:rPr lang="en-US" sz="1500" b="1" cap="none" spc="0">
                          <a:solidFill>
                            <a:schemeClr val="tx1"/>
                          </a:solidFill>
                        </a:rPr>
                        <a:t>Ginlong (Solis)</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5%</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60463170"/>
                  </a:ext>
                </a:extLst>
              </a:tr>
              <a:tr h="595847">
                <a:tc>
                  <a:txBody>
                    <a:bodyPr/>
                    <a:lstStyle/>
                    <a:p>
                      <a:pPr>
                        <a:buNone/>
                      </a:pPr>
                      <a:r>
                        <a:rPr lang="en-US" sz="1500" b="1" cap="none" spc="0">
                          <a:solidFill>
                            <a:schemeClr val="tx1"/>
                          </a:solidFill>
                        </a:rPr>
                        <a:t>Growatt</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4%</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445047380"/>
                  </a:ext>
                </a:extLst>
              </a:tr>
              <a:tr h="595847">
                <a:tc>
                  <a:txBody>
                    <a:bodyPr/>
                    <a:lstStyle/>
                    <a:p>
                      <a:pPr>
                        <a:buNone/>
                      </a:pPr>
                      <a:r>
                        <a:rPr lang="en-US" sz="1500" b="1" cap="none" spc="0">
                          <a:solidFill>
                            <a:schemeClr val="tx1"/>
                          </a:solidFill>
                        </a:rPr>
                        <a:t>Others</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500" b="0" cap="none" spc="0">
                          <a:solidFill>
                            <a:schemeClr val="tx1"/>
                          </a:solidFill>
                        </a:rPr>
                        <a:t>36%</a:t>
                      </a:r>
                    </a:p>
                  </a:txBody>
                  <a:tcPr marL="160557" marR="160557" marT="160557" marB="16055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667940997"/>
                  </a:ext>
                </a:extLst>
              </a:tr>
            </a:tbl>
          </a:graphicData>
        </a:graphic>
      </p:graphicFrame>
    </p:spTree>
    <p:extLst>
      <p:ext uri="{BB962C8B-B14F-4D97-AF65-F5344CB8AC3E}">
        <p14:creationId xmlns:p14="http://schemas.microsoft.com/office/powerpoint/2010/main" val="95867275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E7FAF-DC57-C279-59FB-4A2F33919CDB}"/>
              </a:ext>
            </a:extLst>
          </p:cNvPr>
          <p:cNvSpPr>
            <a:spLocks noGrp="1"/>
          </p:cNvSpPr>
          <p:nvPr>
            <p:ph type="title"/>
          </p:nvPr>
        </p:nvSpPr>
        <p:spPr>
          <a:xfrm>
            <a:off x="516249" y="1012175"/>
            <a:ext cx="11113008" cy="849793"/>
          </a:xfrm>
        </p:spPr>
        <p:txBody>
          <a:bodyPr anchor="t">
            <a:normAutofit/>
          </a:bodyPr>
          <a:lstStyle/>
          <a:p>
            <a:r>
              <a:rPr lang="en-US"/>
              <a:t>Indian Market Leaders</a:t>
            </a:r>
          </a:p>
        </p:txBody>
      </p:sp>
      <p:graphicFrame>
        <p:nvGraphicFramePr>
          <p:cNvPr id="5" name="Content Placeholder 4">
            <a:extLst>
              <a:ext uri="{FF2B5EF4-FFF2-40B4-BE49-F238E27FC236}">
                <a16:creationId xmlns:a16="http://schemas.microsoft.com/office/drawing/2014/main" id="{208C434B-7544-45D8-BFA3-EA49D5F5251F}"/>
              </a:ext>
            </a:extLst>
          </p:cNvPr>
          <p:cNvGraphicFramePr>
            <a:graphicFrameLocks noGrp="1"/>
          </p:cNvGraphicFramePr>
          <p:nvPr>
            <p:ph idx="1"/>
          </p:nvPr>
        </p:nvGraphicFramePr>
        <p:xfrm>
          <a:off x="539496" y="2346173"/>
          <a:ext cx="11013670" cy="3990257"/>
        </p:xfrm>
        <a:graphic>
          <a:graphicData uri="http://schemas.openxmlformats.org/drawingml/2006/table">
            <a:tbl>
              <a:tblPr firstRow="1" bandRow="1">
                <a:noFill/>
                <a:tableStyleId>{5C22544A-7EE6-4342-B048-85BDC9FD1C3A}</a:tableStyleId>
              </a:tblPr>
              <a:tblGrid>
                <a:gridCol w="3924710">
                  <a:extLst>
                    <a:ext uri="{9D8B030D-6E8A-4147-A177-3AD203B41FA5}">
                      <a16:colId xmlns:a16="http://schemas.microsoft.com/office/drawing/2014/main" val="1599778369"/>
                    </a:ext>
                  </a:extLst>
                </a:gridCol>
                <a:gridCol w="7088960">
                  <a:extLst>
                    <a:ext uri="{9D8B030D-6E8A-4147-A177-3AD203B41FA5}">
                      <a16:colId xmlns:a16="http://schemas.microsoft.com/office/drawing/2014/main" val="1990921270"/>
                    </a:ext>
                  </a:extLst>
                </a:gridCol>
              </a:tblGrid>
              <a:tr h="714087">
                <a:tc>
                  <a:txBody>
                    <a:bodyPr/>
                    <a:lstStyle/>
                    <a:p>
                      <a:pPr>
                        <a:buNone/>
                      </a:pPr>
                      <a:r>
                        <a:rPr lang="en-US" sz="2100" b="1" cap="all" spc="150">
                          <a:solidFill>
                            <a:schemeClr val="tx1"/>
                          </a:solidFill>
                        </a:rPr>
                        <a:t>Supplier</a:t>
                      </a:r>
                    </a:p>
                  </a:txBody>
                  <a:tcPr marL="176560" marR="176560" marT="176560" marB="17656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100" b="1" cap="all" spc="150">
                          <a:solidFill>
                            <a:schemeClr val="tx1"/>
                          </a:solidFill>
                        </a:rPr>
                        <a:t>Market Share % (India, 2024)</a:t>
                      </a:r>
                    </a:p>
                  </a:txBody>
                  <a:tcPr marL="176560" marR="176560" marT="176560" marB="176560"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369622949"/>
                  </a:ext>
                </a:extLst>
              </a:tr>
              <a:tr h="655234">
                <a:tc>
                  <a:txBody>
                    <a:bodyPr/>
                    <a:lstStyle/>
                    <a:p>
                      <a:pPr>
                        <a:buNone/>
                      </a:pPr>
                      <a:r>
                        <a:rPr lang="en-US" sz="1700" b="1" cap="none" spc="0">
                          <a:solidFill>
                            <a:schemeClr val="tx1"/>
                          </a:solidFill>
                        </a:rPr>
                        <a:t>Sungrow</a:t>
                      </a:r>
                    </a:p>
                  </a:txBody>
                  <a:tcPr marL="176560" marR="176560" marT="176560" marB="176560"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700" cap="none" spc="0">
                          <a:solidFill>
                            <a:schemeClr val="tx1"/>
                          </a:solidFill>
                        </a:rPr>
                        <a:t>29.1%</a:t>
                      </a:r>
                    </a:p>
                  </a:txBody>
                  <a:tcPr marL="176560" marR="176560" marT="176560" marB="176560"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462343965"/>
                  </a:ext>
                </a:extLst>
              </a:tr>
              <a:tr h="655234">
                <a:tc>
                  <a:txBody>
                    <a:bodyPr/>
                    <a:lstStyle/>
                    <a:p>
                      <a:pPr>
                        <a:buNone/>
                      </a:pPr>
                      <a:r>
                        <a:rPr lang="en-US" sz="1700" b="1" cap="none" spc="0">
                          <a:solidFill>
                            <a:schemeClr val="tx1"/>
                          </a:solidFill>
                        </a:rPr>
                        <a:t>TBEA Energy India</a:t>
                      </a:r>
                    </a:p>
                  </a:txBody>
                  <a:tcPr marL="176560" marR="176560" marT="176560" marB="17656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21.3%</a:t>
                      </a:r>
                    </a:p>
                  </a:txBody>
                  <a:tcPr marL="176560" marR="176560" marT="176560" marB="17656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104637"/>
                  </a:ext>
                </a:extLst>
              </a:tr>
              <a:tr h="655234">
                <a:tc>
                  <a:txBody>
                    <a:bodyPr/>
                    <a:lstStyle/>
                    <a:p>
                      <a:pPr>
                        <a:buNone/>
                      </a:pPr>
                      <a:r>
                        <a:rPr lang="en-US" sz="1700" b="1" cap="none" spc="0">
                          <a:solidFill>
                            <a:schemeClr val="tx1"/>
                          </a:solidFill>
                        </a:rPr>
                        <a:t>Sineng Electric</a:t>
                      </a:r>
                    </a:p>
                  </a:txBody>
                  <a:tcPr marL="176560" marR="176560" marT="176560" marB="1765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700" cap="none" spc="0">
                          <a:solidFill>
                            <a:schemeClr val="tx1"/>
                          </a:solidFill>
                        </a:rPr>
                        <a:t>13.3%</a:t>
                      </a:r>
                    </a:p>
                  </a:txBody>
                  <a:tcPr marL="176560" marR="176560" marT="176560" marB="1765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99679003"/>
                  </a:ext>
                </a:extLst>
              </a:tr>
              <a:tr h="655234">
                <a:tc>
                  <a:txBody>
                    <a:bodyPr/>
                    <a:lstStyle/>
                    <a:p>
                      <a:pPr>
                        <a:buNone/>
                      </a:pPr>
                      <a:r>
                        <a:rPr lang="en-US" sz="1700" b="1" cap="none" spc="0">
                          <a:solidFill>
                            <a:schemeClr val="tx1"/>
                          </a:solidFill>
                        </a:rPr>
                        <a:t>FIMER India</a:t>
                      </a:r>
                    </a:p>
                  </a:txBody>
                  <a:tcPr marL="176560" marR="176560" marT="176560" marB="17656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12.2%</a:t>
                      </a:r>
                    </a:p>
                  </a:txBody>
                  <a:tcPr marL="176560" marR="176560" marT="176560" marB="17656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28548337"/>
                  </a:ext>
                </a:extLst>
              </a:tr>
              <a:tr h="655234">
                <a:tc>
                  <a:txBody>
                    <a:bodyPr/>
                    <a:lstStyle/>
                    <a:p>
                      <a:pPr>
                        <a:buNone/>
                      </a:pPr>
                      <a:r>
                        <a:rPr lang="en-US" sz="1700" b="1" cap="none" spc="0">
                          <a:solidFill>
                            <a:schemeClr val="tx1"/>
                          </a:solidFill>
                        </a:rPr>
                        <a:t>Ginlong (Solis)</a:t>
                      </a:r>
                    </a:p>
                  </a:txBody>
                  <a:tcPr marL="176560" marR="176560" marT="176560" marB="176560"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700" cap="none" spc="0">
                          <a:solidFill>
                            <a:schemeClr val="tx1"/>
                          </a:solidFill>
                        </a:rPr>
                        <a:t>6%</a:t>
                      </a:r>
                    </a:p>
                  </a:txBody>
                  <a:tcPr marL="176560" marR="176560" marT="176560" marB="176560"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611682671"/>
                  </a:ext>
                </a:extLst>
              </a:tr>
            </a:tbl>
          </a:graphicData>
        </a:graphic>
      </p:graphicFrame>
    </p:spTree>
    <p:extLst>
      <p:ext uri="{BB962C8B-B14F-4D97-AF65-F5344CB8AC3E}">
        <p14:creationId xmlns:p14="http://schemas.microsoft.com/office/powerpoint/2010/main" val="44022941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9D918D-1382-D9D5-DF1E-58AC90633963}"/>
              </a:ext>
            </a:extLst>
          </p:cNvPr>
          <p:cNvSpPr>
            <a:spLocks noGrp="1"/>
          </p:cNvSpPr>
          <p:nvPr>
            <p:ph type="title"/>
          </p:nvPr>
        </p:nvSpPr>
        <p:spPr>
          <a:xfrm>
            <a:off x="-18288" y="2184032"/>
            <a:ext cx="8074152" cy="4718304"/>
          </a:xfrm>
        </p:spPr>
        <p:txBody>
          <a:bodyPr anchor="b">
            <a:normAutofit/>
          </a:bodyPr>
          <a:lstStyle/>
          <a:p>
            <a:r>
              <a:rPr lang="en-US"/>
              <a:t>Industry Trends and Regulatory Changes</a:t>
            </a:r>
          </a:p>
        </p:txBody>
      </p:sp>
    </p:spTree>
    <p:extLst>
      <p:ext uri="{BB962C8B-B14F-4D97-AF65-F5344CB8AC3E}">
        <p14:creationId xmlns:p14="http://schemas.microsoft.com/office/powerpoint/2010/main" val="2475389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0266-45CF-C496-D995-F8AD1A5DEE00}"/>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3900" b="0" i="0" kern="1200" spc="-200" baseline="0">
                <a:latin typeface="+mj-lt"/>
                <a:ea typeface="+mj-ea"/>
                <a:cs typeface="+mj-cs"/>
              </a:rPr>
              <a:t>Technology and Market Trends</a:t>
            </a:r>
          </a:p>
        </p:txBody>
      </p:sp>
      <p:pic>
        <p:nvPicPr>
          <p:cNvPr id="4" name="Content Placeholder 3" descr="Portable solar panels on garden fence with battery charging,  rural area, sunny summer day, producing green sustainable energy for private use or blackout precaution">
            <a:extLst>
              <a:ext uri="{FF2B5EF4-FFF2-40B4-BE49-F238E27FC236}">
                <a16:creationId xmlns:a16="http://schemas.microsoft.com/office/drawing/2014/main" id="{1B0E9A0E-2705-455D-9517-4C17BE8442B7}"/>
              </a:ext>
            </a:extLst>
          </p:cNvPr>
          <p:cNvPicPr>
            <a:picLocks noGrp="1" noChangeAspect="1"/>
          </p:cNvPicPr>
          <p:nvPr>
            <p:ph type="pic" sz="quarter" idx="13"/>
          </p:nvPr>
        </p:nvPicPr>
        <p:blipFill>
          <a:blip r:embed="rId3"/>
          <a:srcRect l="39028" r="21811" b="-2"/>
          <a:stretch>
            <a:fillRect/>
          </a:stretch>
        </p:blipFill>
        <p:spPr>
          <a:xfrm>
            <a:off x="20" y="1"/>
            <a:ext cx="4023340" cy="6858000"/>
          </a:xfrm>
          <a:prstGeom prst="rect">
            <a:avLst/>
          </a:prstGeom>
          <a:noFill/>
        </p:spPr>
      </p:pic>
      <p:sp>
        <p:nvSpPr>
          <p:cNvPr id="5" name="TextBox 4">
            <a:extLst>
              <a:ext uri="{FF2B5EF4-FFF2-40B4-BE49-F238E27FC236}">
                <a16:creationId xmlns:a16="http://schemas.microsoft.com/office/drawing/2014/main" id="{2165CF42-0ECD-4F56-8274-123A096C75C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Hybrid Inverters with Battery Storage</a:t>
            </a:r>
          </a:p>
          <a:p>
            <a:pPr marL="0" lvl="1" indent="0">
              <a:lnSpc>
                <a:spcPct val="90000"/>
              </a:lnSpc>
              <a:spcBef>
                <a:spcPts val="1000"/>
              </a:spcBef>
              <a:spcAft>
                <a:spcPts val="600"/>
              </a:spcAft>
              <a:buNone/>
            </a:pPr>
            <a:r>
              <a:rPr lang="en-US" sz="1200"/>
              <a:t>Hybrid inverters combine solar power with battery storage, enhancing energy independence and backup power during outages.</a:t>
            </a:r>
          </a:p>
          <a:p>
            <a:pPr marL="0" indent="0">
              <a:lnSpc>
                <a:spcPct val="90000"/>
              </a:lnSpc>
              <a:spcBef>
                <a:spcPts val="2500"/>
              </a:spcBef>
              <a:spcAft>
                <a:spcPts val="600"/>
              </a:spcAft>
              <a:buNone/>
            </a:pPr>
            <a:r>
              <a:rPr lang="en-US" sz="1200" b="1"/>
              <a:t>Smart Grid Support Features</a:t>
            </a:r>
          </a:p>
          <a:p>
            <a:pPr marL="0" lvl="1" indent="0">
              <a:lnSpc>
                <a:spcPct val="90000"/>
              </a:lnSpc>
              <a:spcBef>
                <a:spcPts val="1000"/>
              </a:spcBef>
              <a:spcAft>
                <a:spcPts val="600"/>
              </a:spcAft>
              <a:buNone/>
            </a:pPr>
            <a:r>
              <a:rPr lang="en-US" sz="1200"/>
              <a:t>Smart inverters provide grid support functions like voltage regulation and frequency response, aiding grid modernization.</a:t>
            </a:r>
          </a:p>
          <a:p>
            <a:pPr marL="0" indent="0">
              <a:lnSpc>
                <a:spcPct val="90000"/>
              </a:lnSpc>
              <a:spcBef>
                <a:spcPts val="2500"/>
              </a:spcBef>
              <a:spcAft>
                <a:spcPts val="600"/>
              </a:spcAft>
              <a:buNone/>
            </a:pPr>
            <a:r>
              <a:rPr lang="en-US" sz="1200" b="1"/>
              <a:t>Semiconductor Innovations</a:t>
            </a:r>
          </a:p>
          <a:p>
            <a:pPr marL="0" lvl="1" indent="0">
              <a:lnSpc>
                <a:spcPct val="90000"/>
              </a:lnSpc>
              <a:spcBef>
                <a:spcPts val="1000"/>
              </a:spcBef>
              <a:spcAft>
                <a:spcPts val="600"/>
              </a:spcAft>
              <a:buNone/>
            </a:pPr>
            <a:r>
              <a:rPr lang="en-US" sz="1200"/>
              <a:t>New semiconductor materials such as Silicon Carbide and Gallium Nitride improve inverter efficiency and reduce size and weight.</a:t>
            </a:r>
          </a:p>
          <a:p>
            <a:pPr marL="0" indent="0">
              <a:lnSpc>
                <a:spcPct val="90000"/>
              </a:lnSpc>
              <a:spcBef>
                <a:spcPts val="2500"/>
              </a:spcBef>
              <a:spcAft>
                <a:spcPts val="600"/>
              </a:spcAft>
              <a:buNone/>
            </a:pPr>
            <a:r>
              <a:rPr lang="en-US" sz="1200" b="1"/>
              <a:t>Shift to High-Power String Inverters</a:t>
            </a:r>
          </a:p>
          <a:p>
            <a:pPr marL="0" lvl="1" indent="0">
              <a:lnSpc>
                <a:spcPct val="90000"/>
              </a:lnSpc>
              <a:spcBef>
                <a:spcPts val="1000"/>
              </a:spcBef>
              <a:spcAft>
                <a:spcPts val="600"/>
              </a:spcAft>
              <a:buNone/>
            </a:pPr>
            <a:r>
              <a:rPr lang="en-US" sz="1200"/>
              <a:t>Market trends favor high-power string inverters for utility-scale use due to modularity and easier maintenance over central inverters.</a:t>
            </a:r>
          </a:p>
        </p:txBody>
      </p:sp>
    </p:spTree>
    <p:extLst>
      <p:ext uri="{BB962C8B-B14F-4D97-AF65-F5344CB8AC3E}">
        <p14:creationId xmlns:p14="http://schemas.microsoft.com/office/powerpoint/2010/main" val="4095286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C7123-D40F-5A25-2825-6A89EB0EF262}"/>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3900" b="0" i="0" kern="1200" spc="-200" baseline="0">
                <a:latin typeface="+mj-lt"/>
                <a:ea typeface="+mj-ea"/>
                <a:cs typeface="+mj-cs"/>
              </a:rPr>
              <a:t>Global Regulatory and Incentive Landscape</a:t>
            </a:r>
          </a:p>
        </p:txBody>
      </p:sp>
      <p:sp>
        <p:nvSpPr>
          <p:cNvPr id="5" name="TextBox 4">
            <a:extLst>
              <a:ext uri="{FF2B5EF4-FFF2-40B4-BE49-F238E27FC236}">
                <a16:creationId xmlns:a16="http://schemas.microsoft.com/office/drawing/2014/main" id="{A8E69BCD-A522-4F80-A76D-6EC3536DFE5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US Solar Incentives</a:t>
            </a:r>
          </a:p>
          <a:p>
            <a:pPr marL="0" lvl="1" indent="0">
              <a:lnSpc>
                <a:spcPct val="90000"/>
              </a:lnSpc>
              <a:spcBef>
                <a:spcPts val="1000"/>
              </a:spcBef>
              <a:spcAft>
                <a:spcPts val="600"/>
              </a:spcAft>
              <a:buNone/>
            </a:pPr>
            <a:r>
              <a:rPr lang="en-US" sz="1200"/>
              <a:t>The Investment Tax Credit offers a 30% credit for solar installations through 2025, driving demand in the US.</a:t>
            </a:r>
          </a:p>
          <a:p>
            <a:pPr marL="0" indent="0">
              <a:lnSpc>
                <a:spcPct val="90000"/>
              </a:lnSpc>
              <a:spcBef>
                <a:spcPts val="2500"/>
              </a:spcBef>
              <a:spcAft>
                <a:spcPts val="600"/>
              </a:spcAft>
              <a:buNone/>
            </a:pPr>
            <a:r>
              <a:rPr lang="en-US" sz="1200" b="1"/>
              <a:t>European Solar Policies</a:t>
            </a:r>
          </a:p>
          <a:p>
            <a:pPr marL="0" lvl="1" indent="0">
              <a:lnSpc>
                <a:spcPct val="90000"/>
              </a:lnSpc>
              <a:spcBef>
                <a:spcPts val="1000"/>
              </a:spcBef>
              <a:spcAft>
                <a:spcPts val="600"/>
              </a:spcAft>
              <a:buNone/>
            </a:pPr>
            <a:r>
              <a:rPr lang="en-US" sz="1200"/>
              <a:t>REPowerEU mandates rooftop solar on new commercial buildings with feed-in tariffs and grants to boost adoption.</a:t>
            </a:r>
          </a:p>
          <a:p>
            <a:pPr marL="0" indent="0">
              <a:lnSpc>
                <a:spcPct val="90000"/>
              </a:lnSpc>
              <a:spcBef>
                <a:spcPts val="2500"/>
              </a:spcBef>
              <a:spcAft>
                <a:spcPts val="600"/>
              </a:spcAft>
              <a:buNone/>
            </a:pPr>
            <a:r>
              <a:rPr lang="en-US" sz="1200" b="1"/>
              <a:t>Indian Regulatory Reforms</a:t>
            </a:r>
          </a:p>
          <a:p>
            <a:pPr marL="0" lvl="1" indent="0">
              <a:lnSpc>
                <a:spcPct val="90000"/>
              </a:lnSpc>
              <a:spcBef>
                <a:spcPts val="1000"/>
              </a:spcBef>
              <a:spcAft>
                <a:spcPts val="600"/>
              </a:spcAft>
              <a:buNone/>
            </a:pPr>
            <a:r>
              <a:rPr lang="en-US" sz="1200"/>
              <a:t>India’s ALMM regulations and subsidies promote solar cell inclusion and virtual net metering innovations.</a:t>
            </a:r>
          </a:p>
          <a:p>
            <a:pPr marL="0" indent="0">
              <a:lnSpc>
                <a:spcPct val="90000"/>
              </a:lnSpc>
              <a:spcBef>
                <a:spcPts val="2500"/>
              </a:spcBef>
              <a:spcAft>
                <a:spcPts val="600"/>
              </a:spcAft>
              <a:buNone/>
            </a:pPr>
            <a:r>
              <a:rPr lang="en-US" sz="1200" b="1"/>
              <a:t>Global Energy Goals</a:t>
            </a:r>
          </a:p>
          <a:p>
            <a:pPr marL="0" lvl="1" indent="0">
              <a:lnSpc>
                <a:spcPct val="90000"/>
              </a:lnSpc>
              <a:spcBef>
                <a:spcPts val="1000"/>
              </a:spcBef>
              <a:spcAft>
                <a:spcPts val="600"/>
              </a:spcAft>
              <a:buNone/>
            </a:pPr>
            <a:r>
              <a:rPr lang="en-US" sz="1200"/>
              <a:t>Policies worldwide encourage distributed generation, grid integration, and energy security for sustainable growth.</a:t>
            </a:r>
          </a:p>
        </p:txBody>
      </p:sp>
      <p:pic>
        <p:nvPicPr>
          <p:cNvPr id="4" name="Content Placeholder 3" descr="Solar Panels Field in Mountains">
            <a:extLst>
              <a:ext uri="{FF2B5EF4-FFF2-40B4-BE49-F238E27FC236}">
                <a16:creationId xmlns:a16="http://schemas.microsoft.com/office/drawing/2014/main" id="{14148346-EC2B-4CCD-9EEA-35D5E60CBEEC}"/>
              </a:ext>
            </a:extLst>
          </p:cNvPr>
          <p:cNvPicPr>
            <a:picLocks noGrp="1" noChangeAspect="1"/>
          </p:cNvPicPr>
          <p:nvPr>
            <p:ph type="pic" sz="quarter" idx="13"/>
          </p:nvPr>
        </p:nvPicPr>
        <p:blipFill>
          <a:blip r:embed="rId3"/>
          <a:srcRect l="25487" r="43420"/>
          <a:stretch>
            <a:fillRect/>
          </a:stretch>
        </p:blipFill>
        <p:spPr>
          <a:xfrm>
            <a:off x="8168640" y="1"/>
            <a:ext cx="4023360" cy="6858000"/>
          </a:xfrm>
          <a:prstGeom prst="rect">
            <a:avLst/>
          </a:prstGeom>
          <a:noFill/>
        </p:spPr>
      </p:pic>
    </p:spTree>
    <p:extLst>
      <p:ext uri="{BB962C8B-B14F-4D97-AF65-F5344CB8AC3E}">
        <p14:creationId xmlns:p14="http://schemas.microsoft.com/office/powerpoint/2010/main" val="1272087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94C739-F654-F1C0-4B44-42D09E976E1F}"/>
              </a:ext>
            </a:extLst>
          </p:cNvPr>
          <p:cNvSpPr>
            <a:spLocks noGrp="1"/>
          </p:cNvSpPr>
          <p:nvPr>
            <p:ph type="title"/>
          </p:nvPr>
        </p:nvSpPr>
        <p:spPr>
          <a:xfrm>
            <a:off x="-18288" y="2184032"/>
            <a:ext cx="8074152" cy="4718304"/>
          </a:xfrm>
        </p:spPr>
        <p:txBody>
          <a:bodyPr anchor="b">
            <a:normAutofit/>
          </a:bodyPr>
          <a:lstStyle/>
          <a:p>
            <a:r>
              <a:rPr lang="en-US"/>
              <a:t>Performance Metrics and Product Portfolios</a:t>
            </a:r>
          </a:p>
        </p:txBody>
      </p:sp>
    </p:spTree>
    <p:extLst>
      <p:ext uri="{BB962C8B-B14F-4D97-AF65-F5344CB8AC3E}">
        <p14:creationId xmlns:p14="http://schemas.microsoft.com/office/powerpoint/2010/main" val="330869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9D13-0A36-FF41-DB3F-39B662F289D8}"/>
              </a:ext>
            </a:extLst>
          </p:cNvPr>
          <p:cNvSpPr>
            <a:spLocks noGrp="1"/>
          </p:cNvSpPr>
          <p:nvPr>
            <p:ph type="title"/>
          </p:nvPr>
        </p:nvSpPr>
        <p:spPr>
          <a:xfrm>
            <a:off x="516249" y="1012175"/>
            <a:ext cx="11113008" cy="849793"/>
          </a:xfrm>
        </p:spPr>
        <p:txBody>
          <a:bodyPr anchor="t">
            <a:normAutofit/>
          </a:bodyPr>
          <a:lstStyle/>
          <a:p>
            <a:r>
              <a:rPr lang="en-US" sz="4300"/>
              <a:t>Key Performance Indicators for Solar Inverters</a:t>
            </a:r>
          </a:p>
        </p:txBody>
      </p:sp>
      <p:graphicFrame>
        <p:nvGraphicFramePr>
          <p:cNvPr id="5" name="Content Placeholder 4">
            <a:extLst>
              <a:ext uri="{FF2B5EF4-FFF2-40B4-BE49-F238E27FC236}">
                <a16:creationId xmlns:a16="http://schemas.microsoft.com/office/drawing/2014/main" id="{F87408F5-51C5-494B-85E4-4B30D3B0C4BF}"/>
              </a:ext>
            </a:extLst>
          </p:cNvPr>
          <p:cNvGraphicFramePr>
            <a:graphicFrameLocks noGrp="1"/>
          </p:cNvGraphicFramePr>
          <p:nvPr>
            <p:ph idx="1"/>
          </p:nvPr>
        </p:nvGraphicFramePr>
        <p:xfrm>
          <a:off x="539496" y="2115658"/>
          <a:ext cx="11013669" cy="4451287"/>
        </p:xfrm>
        <a:graphic>
          <a:graphicData uri="http://schemas.openxmlformats.org/drawingml/2006/table">
            <a:tbl>
              <a:tblPr firstRow="1" bandRow="1">
                <a:noFill/>
                <a:tableStyleId>{5C22544A-7EE6-4342-B048-85BDC9FD1C3A}</a:tableStyleId>
              </a:tblPr>
              <a:tblGrid>
                <a:gridCol w="3105658">
                  <a:extLst>
                    <a:ext uri="{9D8B030D-6E8A-4147-A177-3AD203B41FA5}">
                      <a16:colId xmlns:a16="http://schemas.microsoft.com/office/drawing/2014/main" val="2473321147"/>
                    </a:ext>
                  </a:extLst>
                </a:gridCol>
                <a:gridCol w="7908011">
                  <a:extLst>
                    <a:ext uri="{9D8B030D-6E8A-4147-A177-3AD203B41FA5}">
                      <a16:colId xmlns:a16="http://schemas.microsoft.com/office/drawing/2014/main" val="2510147190"/>
                    </a:ext>
                  </a:extLst>
                </a:gridCol>
              </a:tblGrid>
              <a:tr h="796592">
                <a:tc>
                  <a:txBody>
                    <a:bodyPr/>
                    <a:lstStyle/>
                    <a:p>
                      <a:pPr>
                        <a:buNone/>
                      </a:pPr>
                      <a:r>
                        <a:rPr lang="en-US" sz="2300" b="1" cap="all" spc="150">
                          <a:solidFill>
                            <a:schemeClr val="tx1"/>
                          </a:solidFill>
                        </a:rPr>
                        <a:t>Metric</a:t>
                      </a:r>
                    </a:p>
                  </a:txBody>
                  <a:tcPr marL="196959" marR="196959" marT="196959" marB="19695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300" b="1" cap="all" spc="150">
                          <a:solidFill>
                            <a:schemeClr val="tx1"/>
                          </a:solidFill>
                        </a:rPr>
                        <a:t>Description</a:t>
                      </a:r>
                    </a:p>
                  </a:txBody>
                  <a:tcPr marL="196959" marR="196959" marT="196959" marB="196959"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790578688"/>
                  </a:ext>
                </a:extLst>
              </a:tr>
              <a:tr h="730939">
                <a:tc>
                  <a:txBody>
                    <a:bodyPr/>
                    <a:lstStyle/>
                    <a:p>
                      <a:pPr>
                        <a:buNone/>
                      </a:pPr>
                      <a:r>
                        <a:rPr lang="en-US" sz="1900" b="1" cap="none" spc="0">
                          <a:solidFill>
                            <a:schemeClr val="tx1"/>
                          </a:solidFill>
                        </a:rPr>
                        <a:t>Efficiency</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Conversion performance under real-world conditions</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632039121"/>
                  </a:ext>
                </a:extLst>
              </a:tr>
              <a:tr h="730939">
                <a:tc>
                  <a:txBody>
                    <a:bodyPr/>
                    <a:lstStyle/>
                    <a:p>
                      <a:pPr>
                        <a:buNone/>
                      </a:pPr>
                      <a:r>
                        <a:rPr lang="en-US" sz="1900" b="1" cap="none" spc="0">
                          <a:solidFill>
                            <a:schemeClr val="tx1"/>
                          </a:solidFill>
                        </a:rPr>
                        <a:t>MPPT</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Optimizes energy harvest under variable irradiance</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3137668"/>
                  </a:ext>
                </a:extLst>
              </a:tr>
              <a:tr h="730939">
                <a:tc>
                  <a:txBody>
                    <a:bodyPr/>
                    <a:lstStyle/>
                    <a:p>
                      <a:pPr>
                        <a:buNone/>
                      </a:pPr>
                      <a:r>
                        <a:rPr lang="en-US" sz="1900" b="1" cap="none" spc="0">
                          <a:solidFill>
                            <a:schemeClr val="tx1"/>
                          </a:solidFill>
                        </a:rPr>
                        <a:t>THD</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Ensures grid compliance and power quality</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92057014"/>
                  </a:ext>
                </a:extLst>
              </a:tr>
              <a:tr h="730939">
                <a:tc>
                  <a:txBody>
                    <a:bodyPr/>
                    <a:lstStyle/>
                    <a:p>
                      <a:pPr>
                        <a:buNone/>
                      </a:pPr>
                      <a:r>
                        <a:rPr lang="en-US" sz="1900" b="1" cap="none" spc="0">
                          <a:solidFill>
                            <a:schemeClr val="tx1"/>
                          </a:solidFill>
                        </a:rPr>
                        <a:t>MTBF</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Indicates reliability and durability</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96969286"/>
                  </a:ext>
                </a:extLst>
              </a:tr>
              <a:tr h="730939">
                <a:tc>
                  <a:txBody>
                    <a:bodyPr/>
                    <a:lstStyle/>
                    <a:p>
                      <a:pPr>
                        <a:buNone/>
                      </a:pPr>
                      <a:r>
                        <a:rPr lang="en-US" sz="1900" b="1" cap="none" spc="0">
                          <a:solidFill>
                            <a:schemeClr val="tx1"/>
                          </a:solidFill>
                        </a:rPr>
                        <a:t>Standards</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900" cap="none" spc="0">
                          <a:solidFill>
                            <a:schemeClr val="tx1"/>
                          </a:solidFill>
                        </a:rPr>
                        <a:t>IEC/UL compliance for safety and interoperability</a:t>
                      </a:r>
                    </a:p>
                  </a:txBody>
                  <a:tcPr marL="196959" marR="196959" marT="196959" marB="19695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952414556"/>
                  </a:ext>
                </a:extLst>
              </a:tr>
            </a:tbl>
          </a:graphicData>
        </a:graphic>
      </p:graphicFrame>
    </p:spTree>
    <p:extLst>
      <p:ext uri="{BB962C8B-B14F-4D97-AF65-F5344CB8AC3E}">
        <p14:creationId xmlns:p14="http://schemas.microsoft.com/office/powerpoint/2010/main" val="203041389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AB487-6DDC-1543-AAEF-AE417A107E57}"/>
              </a:ext>
            </a:extLst>
          </p:cNvPr>
          <p:cNvSpPr>
            <a:spLocks noGrp="1"/>
          </p:cNvSpPr>
          <p:nvPr>
            <p:ph type="title"/>
          </p:nvPr>
        </p:nvSpPr>
        <p:spPr>
          <a:xfrm>
            <a:off x="516249" y="1012175"/>
            <a:ext cx="11113008" cy="849793"/>
          </a:xfrm>
        </p:spPr>
        <p:txBody>
          <a:bodyPr anchor="t">
            <a:normAutofit/>
          </a:bodyPr>
          <a:lstStyle/>
          <a:p>
            <a:r>
              <a:rPr lang="en-US"/>
              <a:t>Flagship Products and Attributes</a:t>
            </a:r>
          </a:p>
        </p:txBody>
      </p:sp>
      <p:graphicFrame>
        <p:nvGraphicFramePr>
          <p:cNvPr id="5" name="Content Placeholder 4">
            <a:extLst>
              <a:ext uri="{FF2B5EF4-FFF2-40B4-BE49-F238E27FC236}">
                <a16:creationId xmlns:a16="http://schemas.microsoft.com/office/drawing/2014/main" id="{48BD31E7-B032-4AD7-A55F-93EC19099D55}"/>
              </a:ext>
            </a:extLst>
          </p:cNvPr>
          <p:cNvGraphicFramePr>
            <a:graphicFrameLocks noGrp="1"/>
          </p:cNvGraphicFramePr>
          <p:nvPr>
            <p:ph idx="1"/>
          </p:nvPr>
        </p:nvGraphicFramePr>
        <p:xfrm>
          <a:off x="1304125" y="2115542"/>
          <a:ext cx="9484413" cy="4861253"/>
        </p:xfrm>
        <a:graphic>
          <a:graphicData uri="http://schemas.openxmlformats.org/drawingml/2006/table">
            <a:tbl>
              <a:tblPr firstRow="1" bandRow="1">
                <a:noFill/>
                <a:tableStyleId>{5C22544A-7EE6-4342-B048-85BDC9FD1C3A}</a:tableStyleId>
              </a:tblPr>
              <a:tblGrid>
                <a:gridCol w="2854124">
                  <a:extLst>
                    <a:ext uri="{9D8B030D-6E8A-4147-A177-3AD203B41FA5}">
                      <a16:colId xmlns:a16="http://schemas.microsoft.com/office/drawing/2014/main" val="4056086548"/>
                    </a:ext>
                  </a:extLst>
                </a:gridCol>
                <a:gridCol w="2628395">
                  <a:extLst>
                    <a:ext uri="{9D8B030D-6E8A-4147-A177-3AD203B41FA5}">
                      <a16:colId xmlns:a16="http://schemas.microsoft.com/office/drawing/2014/main" val="1000617061"/>
                    </a:ext>
                  </a:extLst>
                </a:gridCol>
                <a:gridCol w="4001894">
                  <a:extLst>
                    <a:ext uri="{9D8B030D-6E8A-4147-A177-3AD203B41FA5}">
                      <a16:colId xmlns:a16="http://schemas.microsoft.com/office/drawing/2014/main" val="440235176"/>
                    </a:ext>
                  </a:extLst>
                </a:gridCol>
              </a:tblGrid>
              <a:tr h="668462">
                <a:tc>
                  <a:txBody>
                    <a:bodyPr/>
                    <a:lstStyle/>
                    <a:p>
                      <a:pPr>
                        <a:buNone/>
                      </a:pPr>
                      <a:r>
                        <a:rPr lang="en-US" sz="1900" b="1" cap="all" spc="150">
                          <a:solidFill>
                            <a:schemeClr val="tx1"/>
                          </a:solidFill>
                        </a:rPr>
                        <a:t>Manufacturer</a:t>
                      </a:r>
                    </a:p>
                  </a:txBody>
                  <a:tcPr marL="165279" marR="165279" marT="165279" marB="165279"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900" b="1" cap="all" spc="150">
                          <a:solidFill>
                            <a:schemeClr val="tx1"/>
                          </a:solidFill>
                        </a:rPr>
                        <a:t>Model/Series</a:t>
                      </a:r>
                    </a:p>
                  </a:txBody>
                  <a:tcPr marL="165279" marR="165279" marT="165279" marB="165279"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900" b="1" cap="all" spc="150">
                          <a:solidFill>
                            <a:schemeClr val="tx1"/>
                          </a:solidFill>
                        </a:rPr>
                        <a:t>Key Attributes</a:t>
                      </a:r>
                    </a:p>
                  </a:txBody>
                  <a:tcPr marL="165279" marR="165279" marT="165279" marB="165279"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211200852"/>
                  </a:ext>
                </a:extLst>
              </a:tr>
              <a:tr h="852105">
                <a:tc>
                  <a:txBody>
                    <a:bodyPr/>
                    <a:lstStyle/>
                    <a:p>
                      <a:pPr>
                        <a:buNone/>
                      </a:pPr>
                      <a:r>
                        <a:rPr lang="en-US" sz="1600" b="1" cap="none" spc="0">
                          <a:solidFill>
                            <a:schemeClr val="tx1"/>
                          </a:solidFill>
                        </a:rPr>
                        <a:t>Huawei</a:t>
                      </a:r>
                    </a:p>
                  </a:txBody>
                  <a:tcPr marL="165279" marR="165279" marT="165279" marB="165279"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SUN2000</a:t>
                      </a:r>
                    </a:p>
                  </a:txBody>
                  <a:tcPr marL="165279" marR="165279" marT="165279" marB="165279"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AFCI, multi-MPPT, PID suppression, smart monitoring</a:t>
                      </a:r>
                    </a:p>
                  </a:txBody>
                  <a:tcPr marL="165279" marR="165279" marT="165279" marB="165279"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2307082455"/>
                  </a:ext>
                </a:extLst>
              </a:tr>
              <a:tr h="613369">
                <a:tc>
                  <a:txBody>
                    <a:bodyPr/>
                    <a:lstStyle/>
                    <a:p>
                      <a:pPr>
                        <a:buNone/>
                      </a:pPr>
                      <a:r>
                        <a:rPr lang="en-US" sz="1600" b="1" cap="none" spc="0">
                          <a:solidFill>
                            <a:schemeClr val="tx1"/>
                          </a:solidFill>
                        </a:rPr>
                        <a:t>Sungrow</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SG Series</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High-power string, multiple MPPT, AFCI</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804933758"/>
                  </a:ext>
                </a:extLst>
              </a:tr>
              <a:tr h="852105">
                <a:tc>
                  <a:txBody>
                    <a:bodyPr/>
                    <a:lstStyle/>
                    <a:p>
                      <a:pPr>
                        <a:buNone/>
                      </a:pPr>
                      <a:r>
                        <a:rPr lang="en-US" sz="1600" b="1" cap="none" spc="0">
                          <a:solidFill>
                            <a:schemeClr val="tx1"/>
                          </a:solidFill>
                        </a:rPr>
                        <a:t>Fronius</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GEN24 Plus</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Hybrid-ready, backup power, 97.6% efficiency</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28890334"/>
                  </a:ext>
                </a:extLst>
              </a:tr>
              <a:tr h="613369">
                <a:tc>
                  <a:txBody>
                    <a:bodyPr/>
                    <a:lstStyle/>
                    <a:p>
                      <a:pPr>
                        <a:buNone/>
                      </a:pPr>
                      <a:r>
                        <a:rPr lang="en-US" sz="1600" b="1" cap="none" spc="0">
                          <a:solidFill>
                            <a:schemeClr val="tx1"/>
                          </a:solidFill>
                        </a:rPr>
                        <a:t>GoodWe</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SDT/HT Series</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Up to 12 MPPTs, IP66, high input current</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664667300"/>
                  </a:ext>
                </a:extLst>
              </a:tr>
              <a:tr h="852105">
                <a:tc>
                  <a:txBody>
                    <a:bodyPr/>
                    <a:lstStyle/>
                    <a:p>
                      <a:pPr>
                        <a:buNone/>
                      </a:pPr>
                      <a:r>
                        <a:rPr lang="en-US" sz="1600" b="1" cap="none" spc="0">
                          <a:solidFill>
                            <a:schemeClr val="tx1"/>
                          </a:solidFill>
                        </a:rPr>
                        <a:t>Enphase</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600" b="0" cap="none" spc="0">
                          <a:solidFill>
                            <a:schemeClr val="tx1"/>
                          </a:solidFill>
                        </a:rPr>
                        <a:t>IQ8</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600" b="0" cap="none" spc="0">
                          <a:solidFill>
                            <a:schemeClr val="tx1"/>
                          </a:solidFill>
                        </a:rPr>
                        <a:t>Microinverter, panel-level optimization, rapid shutdown</a:t>
                      </a:r>
                    </a:p>
                  </a:txBody>
                  <a:tcPr marL="165279" marR="165279" marT="165279" marB="165279"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2573499596"/>
                  </a:ext>
                </a:extLst>
              </a:tr>
            </a:tbl>
          </a:graphicData>
        </a:graphic>
      </p:graphicFrame>
    </p:spTree>
    <p:extLst>
      <p:ext uri="{BB962C8B-B14F-4D97-AF65-F5344CB8AC3E}">
        <p14:creationId xmlns:p14="http://schemas.microsoft.com/office/powerpoint/2010/main" val="53717160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_Copilot Layouts_win32_DN_v7" id="{2D27664C-6308-44CF-AD31-3123E3CD2A37}" vid="{94C83FE8-F59A-47F5-B97E-45C21FC7BF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83A9C388-2C06-4AF2-857C-74055069A29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F782DA7-86C0-4A84-A860-11A1E6E3FB6B}">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TotalTime>
  <Words>2684</Words>
  <Application>Microsoft Office PowerPoint</Application>
  <PresentationFormat>Widescreen</PresentationFormat>
  <Paragraphs>154</Paragraphs>
  <Slides>16</Slides>
  <Notes>14</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Aptos</vt:lpstr>
      <vt:lpstr>Arial</vt:lpstr>
      <vt:lpstr>Neue Haas Grotesk Text Pro</vt:lpstr>
      <vt:lpstr>Axis</vt:lpstr>
      <vt:lpstr>think-cell Slide</vt:lpstr>
      <vt:lpstr>Solar Inverters – Global Market &amp; Technology Brief</vt:lpstr>
      <vt:lpstr>Executive Summary</vt:lpstr>
      <vt:lpstr>Key Insights &amp; Trends</vt:lpstr>
      <vt:lpstr>KPI Scores Heatmap and Rankings – Global Manufacturers</vt:lpstr>
      <vt:lpstr>Global Market Overview</vt:lpstr>
      <vt:lpstr>Market Size and Growth Forecast</vt:lpstr>
      <vt:lpstr>Regional Shipment Distribution</vt:lpstr>
      <vt:lpstr>Competitive Landscape</vt:lpstr>
      <vt:lpstr>Global Leading Manufacturers</vt:lpstr>
      <vt:lpstr>Indian Market Leaders</vt:lpstr>
      <vt:lpstr>Industry Trends and Regulatory Changes</vt:lpstr>
      <vt:lpstr>Technology and Market Trends</vt:lpstr>
      <vt:lpstr>Global Regulatory and Incentive Landscape</vt:lpstr>
      <vt:lpstr>Performance Metrics and Product Portfolios</vt:lpstr>
      <vt:lpstr>Key Performance Indicators for Solar Inverters</vt:lpstr>
      <vt:lpstr>Flagship Products and Attributes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Jain, Mayank</dc:creator>
  <cp:lastModifiedBy>Mayank Jain</cp:lastModifiedBy>
  <cp:revision>3</cp:revision>
  <dcterms:created xsi:type="dcterms:W3CDTF">2024-06-26T20:20:27Z</dcterms:created>
  <dcterms:modified xsi:type="dcterms:W3CDTF">2025-11-30T03:35:40Z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6267e522-0091-4d88-9989-f382df9eb3cc_Enabled">
    <vt:lpwstr>true</vt:lpwstr>
  </property>
  <property fmtid="{D5CDD505-2E9C-101B-9397-08002B2CF9AE}" pid="5" name="MSIP_Label_6267e522-0091-4d88-9989-f382df9eb3cc_SetDate">
    <vt:lpwstr>2025-11-30T03:28:48Z</vt:lpwstr>
  </property>
  <property fmtid="{D5CDD505-2E9C-101B-9397-08002B2CF9AE}" pid="6" name="MSIP_Label_6267e522-0091-4d88-9989-f382df9eb3cc_Method">
    <vt:lpwstr>Privileged</vt:lpwstr>
  </property>
  <property fmtid="{D5CDD505-2E9C-101B-9397-08002B2CF9AE}" pid="7" name="MSIP_Label_6267e522-0091-4d88-9989-f382df9eb3cc_Name">
    <vt:lpwstr>General</vt:lpwstr>
  </property>
  <property fmtid="{D5CDD505-2E9C-101B-9397-08002B2CF9AE}" pid="8" name="MSIP_Label_6267e522-0091-4d88-9989-f382df9eb3cc_SiteId">
    <vt:lpwstr>8f3e36ea-8039-4b40-81a7-7dc0599e8645</vt:lpwstr>
  </property>
  <property fmtid="{D5CDD505-2E9C-101B-9397-08002B2CF9AE}" pid="9" name="MSIP_Label_6267e522-0091-4d88-9989-f382df9eb3cc_ActionId">
    <vt:lpwstr>99266816-493c-47fb-8ee2-2b20e0232bc7</vt:lpwstr>
  </property>
  <property fmtid="{D5CDD505-2E9C-101B-9397-08002B2CF9AE}" pid="10" name="MSIP_Label_6267e522-0091-4d88-9989-f382df9eb3cc_ContentBits">
    <vt:lpwstr>0</vt:lpwstr>
  </property>
  <property fmtid="{D5CDD505-2E9C-101B-9397-08002B2CF9AE}" pid="11" name="MSIP_Label_6267e522-0091-4d88-9989-f382df9eb3cc_Tag">
    <vt:lpwstr>10, 0, 1, 1</vt:lpwstr>
  </property>
</Properties>
</file>