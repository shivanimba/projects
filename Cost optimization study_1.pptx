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48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75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636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42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12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77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354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58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92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59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8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51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65901D7-BC17-C77F-46F9-966F407FE0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907172398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91" imgH="391" progId="TCLayout.ActiveDocument.1">
                  <p:embed/>
                </p:oleObj>
              </mc:Choice>
              <mc:Fallback>
                <p:oleObj name="think-cell Slide" r:id="rId15" imgW="391" imgH="39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5901D7-BC17-C77F-46F9-966F407FE0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0829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9D6B090-2057-C4DC-44DB-D76B065BB36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4040445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D6B090-2057-C4DC-44DB-D76B065BB3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8810" y="382602"/>
            <a:ext cx="7907740" cy="2951148"/>
          </a:xfrm>
        </p:spPr>
        <p:txBody>
          <a:bodyPr vert="horz" anchor="ctr">
            <a:normAutofit/>
          </a:bodyPr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rPr lang="en-IN" sz="5800" dirty="0">
                <a:solidFill>
                  <a:srgbClr val="454545"/>
                </a:solidFill>
              </a:rPr>
              <a:t>Cost Optimization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2322" y="4361835"/>
            <a:ext cx="6840715" cy="744373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  <a:defRPr sz="1800">
                <a:solidFill>
                  <a:srgbClr val="000000"/>
                </a:solidFill>
              </a:defRPr>
            </a:pPr>
            <a:r>
              <a:rPr lang="en-IN" sz="1700">
                <a:solidFill>
                  <a:schemeClr val="accent1"/>
                </a:solidFill>
              </a:rPr>
              <a:t>Vendor Negotiation | Market Benchmarking | TCO Analysis | Cost-Saving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C2A6C53-AEAC-59AA-61D7-40BE6B96B43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0387185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2A6C53-AEAC-59AA-61D7-40BE6B96B4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Objective: Optimize procurement costs while maintaining quality.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Scope: Hardware suppliers including OEMs.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Approach: Negotiation, Benchmarking, TCO Analysis, Strategic Savings.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Outcome: Achieved 15% cost reduction and improved supplier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A4D30B4-DBE1-792F-52AE-D5F6F5A7A2E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5095908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4D30B4-DBE1-792F-52AE-D5F6F5A7A2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Vendor Negotiation Scenario: Volume Discounts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Description of Volume Discounts:</a:t>
            </a:r>
          </a:p>
          <a:p>
            <a:pPr marL="523875" indent="-342900">
              <a:buFont typeface="Wingdings" panose="05000000000000000000" pitchFamily="2" charset="2"/>
              <a:buChar char="q"/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Benefits: Cost reduction, risk mitigation.</a:t>
            </a:r>
          </a:p>
          <a:p>
            <a:pPr marL="523875" indent="-342900">
              <a:buFont typeface="Wingdings" panose="05000000000000000000" pitchFamily="2" charset="2"/>
              <a:buChar char="q"/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Risks: Supplier lock-in, dependency.</a:t>
            </a:r>
          </a:p>
          <a:p>
            <a:pPr marL="523875" indent="-342900">
              <a:buFont typeface="Wingdings" panose="05000000000000000000" pitchFamily="2" charset="2"/>
              <a:buChar char="q"/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Strategy: Align with long-term procurement goals.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D0834B4-6142-DC85-8FF3-C411EE66B2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8854620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0834B4-6142-DC85-8FF3-C411EE66B2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Vendor Negotiation Scenario: Multi-Year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Description of Multi-Year Contracts:</a:t>
            </a:r>
          </a:p>
          <a:p>
            <a:pPr marL="523875" indent="-342900">
              <a:buFont typeface="Wingdings" panose="05000000000000000000" pitchFamily="2" charset="2"/>
              <a:buChar char="q"/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Benefits: Cost reduction, risk mitigation.</a:t>
            </a:r>
          </a:p>
          <a:p>
            <a:pPr marL="523875" indent="-342900">
              <a:buFont typeface="Wingdings" panose="05000000000000000000" pitchFamily="2" charset="2"/>
              <a:buChar char="q"/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Risks: Supplier lock-in, dependency.</a:t>
            </a:r>
          </a:p>
          <a:p>
            <a:pPr marL="523875" indent="-342900">
              <a:buFont typeface="Wingdings" panose="05000000000000000000" pitchFamily="2" charset="2"/>
              <a:buChar char="q"/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Strategy: Align with long-term procurement goals.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E31D22-09F1-CFB1-4CBC-4F65465472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5120710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E31D22-09F1-CFB1-4CBC-4F65465472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Vendor Negotiation Scenario: Bundled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Description of Bundled Services:</a:t>
            </a:r>
          </a:p>
          <a:p>
            <a:pPr marL="361950" indent="-180975">
              <a:buFont typeface="Wingdings" panose="05000000000000000000" pitchFamily="2" charset="2"/>
              <a:buChar char="q"/>
              <a:defRPr sz="1800">
                <a:solidFill>
                  <a:srgbClr val="000000"/>
                </a:solidFill>
              </a:defRPr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Benefits: Cost reduction, risk mitigation.</a:t>
            </a:r>
          </a:p>
          <a:p>
            <a:pPr marL="361950" indent="-180975">
              <a:buFont typeface="Wingdings" panose="05000000000000000000" pitchFamily="2" charset="2"/>
              <a:buChar char="q"/>
              <a:defRPr sz="1800">
                <a:solidFill>
                  <a:srgbClr val="000000"/>
                </a:solidFill>
              </a:defRPr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Risks: Supplier lock-in, dependency.</a:t>
            </a:r>
          </a:p>
          <a:p>
            <a:pPr marL="361950" indent="-180975">
              <a:buFont typeface="Wingdings" panose="05000000000000000000" pitchFamily="2" charset="2"/>
              <a:buChar char="q"/>
              <a:defRPr sz="1800">
                <a:solidFill>
                  <a:srgbClr val="000000"/>
                </a:solidFill>
              </a:defRPr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Strategy: Align with long-term procurement goals.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F5C4929-75C5-5987-F30F-F9572C6C54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1518943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5C4929-75C5-5987-F30F-F9572C6C54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Vendor Negotiation Scenario: Performance-Based Incentives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Description of Performance-Based Incentives:</a:t>
            </a:r>
          </a:p>
          <a:p>
            <a:pPr marL="361950" indent="-180975">
              <a:buFont typeface="Wingdings" panose="05000000000000000000" pitchFamily="2" charset="2"/>
              <a:buChar char="q"/>
              <a:defRPr sz="1800">
                <a:solidFill>
                  <a:srgbClr val="000000"/>
                </a:solidFill>
              </a:defRPr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Benefits: Cost reduction, risk mitigation.</a:t>
            </a:r>
          </a:p>
          <a:p>
            <a:pPr marL="361950" indent="-180975">
              <a:buFont typeface="Wingdings" panose="05000000000000000000" pitchFamily="2" charset="2"/>
              <a:buChar char="q"/>
              <a:defRPr sz="1800">
                <a:solidFill>
                  <a:srgbClr val="000000"/>
                </a:solidFill>
              </a:defRPr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Risks: Supplier lock-in, dependency.</a:t>
            </a:r>
          </a:p>
          <a:p>
            <a:pPr marL="361950" indent="-180975">
              <a:buFont typeface="Wingdings" panose="05000000000000000000" pitchFamily="2" charset="2"/>
              <a:buChar char="q"/>
              <a:defRPr sz="1800">
                <a:solidFill>
                  <a:srgbClr val="000000"/>
                </a:solidFill>
              </a:defRPr>
            </a:pPr>
            <a:r>
              <a:rPr lang="en-IN" sz="2500" dirty="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sz="2500" dirty="0" err="1">
                <a:latin typeface="Arial" panose="020B0604020202020204" pitchFamily="34" charset="0"/>
                <a:cs typeface="Arial" panose="020B0604020202020204" pitchFamily="34" charset="0"/>
              </a:rPr>
              <a:t>trategy</a:t>
            </a:r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: Align with long-term procurement goals.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574AB9D-E60E-5C9F-B9D5-7BB2676E8BB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5734623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74AB9D-E60E-5C9F-B9D5-7BB2676E8B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Market Benchmarking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Price comparison across OEMs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Quality certifications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Delivery performance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Warranty and support terms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E2DC336-B192-9F50-5678-EB13AE4887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2648957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2DC336-B192-9F50-5678-EB13AE488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Benchmarking Scores</a:t>
            </a:r>
          </a:p>
        </p:txBody>
      </p:sp>
      <p:pic>
        <p:nvPicPr>
          <p:cNvPr id="3" name="Picture 2" descr="benchmar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1579" y="1938681"/>
            <a:ext cx="9677283" cy="38525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D2BD426-B98F-A16A-8DA4-8A74531265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67987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2BD426-B98F-A16A-8DA4-8A74531265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TCO Analysis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Initial Purchase Cost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Maintenance and Support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Energy Consumption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End-of-Life Disposal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CEEDCB-E29E-7D8D-6E52-348C5826F3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1268971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CEEDCB-E29E-7D8D-6E52-348C5826F3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TCO Breakdown</a:t>
            </a:r>
          </a:p>
        </p:txBody>
      </p:sp>
      <p:pic>
        <p:nvPicPr>
          <p:cNvPr id="3" name="Picture 2" descr="tco_break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5475" y="2009775"/>
            <a:ext cx="862965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1775D91-7727-2D0F-27F4-EF373D0B395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0171564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775D91-7727-2D0F-27F4-EF373D0B39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Cost Comparison</a:t>
            </a:r>
          </a:p>
        </p:txBody>
      </p:sp>
      <p:pic>
        <p:nvPicPr>
          <p:cNvPr id="3" name="Picture 2" descr="cost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1579" y="1938681"/>
            <a:ext cx="9603275" cy="38048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9E7DE1A-D2FC-EC3C-3BFB-036765CDAC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4774751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E7DE1A-D2FC-EC3C-3BFB-036765CDAC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Cost-Saving Strategies: Short-Term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endParaRPr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Renegotiate contracts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Consolidate orders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Inventory 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9B1D3D7-E30D-47EB-EA38-BDD61D4920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049628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B1D3D7-E30D-47EB-EA38-BDD61D4920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Cost-Saving Strategies: Long-Term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endParaRPr dirty="0"/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Strategic partnerships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Supplier development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Digital procurement platforms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83B7170-F332-ED2E-751F-CD7EABC0A7D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6826616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1" imgH="391" progId="TCLayout.ActiveDocument.1">
                  <p:embed/>
                </p:oleObj>
              </mc:Choice>
              <mc:Fallback>
                <p:oleObj name="think-cell Slide" r:id="rId3" imgW="391" imgH="3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B7170-F332-ED2E-751F-CD7EABC0A7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Focus on reliable suppliers with competitive TCO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Regular benchmarking updates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3000" dirty="0">
                <a:latin typeface="Arial" panose="020B0604020202020204" pitchFamily="34" charset="0"/>
                <a:cs typeface="Arial" panose="020B0604020202020204" pitchFamily="34" charset="0"/>
              </a:rPr>
              <a:t>Integrate sustainability into procurement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271</Words>
  <Application>Microsoft Office PowerPoint</Application>
  <PresentationFormat>Widescreen</PresentationFormat>
  <Paragraphs>54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Gill Sans MT</vt:lpstr>
      <vt:lpstr>Wingdings</vt:lpstr>
      <vt:lpstr>Gallery</vt:lpstr>
      <vt:lpstr>think-cell Slide</vt:lpstr>
      <vt:lpstr>Cost Optimization Case Study</vt:lpstr>
      <vt:lpstr>Executive Summary</vt:lpstr>
      <vt:lpstr>Vendor Negotiation Scenario: Volume Discounts</vt:lpstr>
      <vt:lpstr>Vendor Negotiation Scenario: Multi-Year Contracts</vt:lpstr>
      <vt:lpstr>Vendor Negotiation Scenario: Bundled Services</vt:lpstr>
      <vt:lpstr>Vendor Negotiation Scenario: Performance-Based Incentives</vt:lpstr>
      <vt:lpstr>Market Benchmarking Criteria</vt:lpstr>
      <vt:lpstr>Benchmarking Scores</vt:lpstr>
      <vt:lpstr>TCO Analysis Components</vt:lpstr>
      <vt:lpstr>TCO Breakdown</vt:lpstr>
      <vt:lpstr>Cost Comparison</vt:lpstr>
      <vt:lpstr>Cost-Saving Strategies: Short-Term</vt:lpstr>
      <vt:lpstr>Cost-Saving Strategies: Long-Term</vt:lpstr>
      <vt:lpstr>Strategic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Jain, Mayank</dc:creator>
  <cp:keywords/>
  <dc:description>generated using python-pptx</dc:description>
  <cp:lastModifiedBy>Jain, Mayank</cp:lastModifiedBy>
  <cp:revision>2</cp:revision>
  <dcterms:created xsi:type="dcterms:W3CDTF">2013-01-27T09:14:16Z</dcterms:created>
  <dcterms:modified xsi:type="dcterms:W3CDTF">2025-11-30T03:56:43Z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267e522-0091-4d88-9989-f382df9eb3cc_Enabled">
    <vt:lpwstr>true</vt:lpwstr>
  </property>
  <property fmtid="{D5CDD505-2E9C-101B-9397-08002B2CF9AE}" pid="3" name="MSIP_Label_6267e522-0091-4d88-9989-f382df9eb3cc_SetDate">
    <vt:lpwstr>2025-11-30T03:56:38Z</vt:lpwstr>
  </property>
  <property fmtid="{D5CDD505-2E9C-101B-9397-08002B2CF9AE}" pid="4" name="MSIP_Label_6267e522-0091-4d88-9989-f382df9eb3cc_Method">
    <vt:lpwstr>Privileged</vt:lpwstr>
  </property>
  <property fmtid="{D5CDD505-2E9C-101B-9397-08002B2CF9AE}" pid="5" name="MSIP_Label_6267e522-0091-4d88-9989-f382df9eb3cc_Name">
    <vt:lpwstr>General</vt:lpwstr>
  </property>
  <property fmtid="{D5CDD505-2E9C-101B-9397-08002B2CF9AE}" pid="6" name="MSIP_Label_6267e522-0091-4d88-9989-f382df9eb3cc_SiteId">
    <vt:lpwstr>8f3e36ea-8039-4b40-81a7-7dc0599e8645</vt:lpwstr>
  </property>
  <property fmtid="{D5CDD505-2E9C-101B-9397-08002B2CF9AE}" pid="7" name="MSIP_Label_6267e522-0091-4d88-9989-f382df9eb3cc_ActionId">
    <vt:lpwstr>40195251-a1e1-46c3-950c-0609d3f04be2</vt:lpwstr>
  </property>
  <property fmtid="{D5CDD505-2E9C-101B-9397-08002B2CF9AE}" pid="8" name="MSIP_Label_6267e522-0091-4d88-9989-f382df9eb3cc_ContentBits">
    <vt:lpwstr>0</vt:lpwstr>
  </property>
  <property fmtid="{D5CDD505-2E9C-101B-9397-08002B2CF9AE}" pid="9" name="MSIP_Label_6267e522-0091-4d88-9989-f382df9eb3cc_Tag">
    <vt:lpwstr>10, 0, 1, 1</vt:lpwstr>
  </property>
</Properties>
</file>